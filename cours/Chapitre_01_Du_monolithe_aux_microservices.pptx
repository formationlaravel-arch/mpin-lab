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4C7E"/>
                </a:solidFill>
                <a:latin typeface="Arial"/>
              </a:defRPr>
            </a:pPr>
            <a:r>
              <a:rPr dirty="0"/>
              <a:t>ARCHITECTURE MICROSERVICES &amp; API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4000" b="1">
                <a:solidFill>
                  <a:srgbClr val="BA3C2A"/>
                </a:solidFill>
                <a:latin typeface="Arial"/>
              </a:defRPr>
            </a:pPr>
            <a:r>
              <a:rPr dirty="0" err="1"/>
              <a:t>Chapitre</a:t>
            </a:r>
            <a:r>
              <a:rPr dirty="0"/>
              <a:t> 01 : Du </a:t>
            </a:r>
            <a:r>
              <a:rPr dirty="0" err="1"/>
              <a:t>Monolithe</a:t>
            </a:r>
            <a:r>
              <a:rPr dirty="0"/>
              <a:t> aux </a:t>
            </a:r>
            <a:r>
              <a:rPr dirty="0" err="1"/>
              <a:t>Microservices</a:t>
            </a:r>
            <a:endParaRPr dirty="0"/>
          </a:p>
          <a:p>
            <a:pPr>
              <a:defRPr sz="1400">
                <a:solidFill>
                  <a:srgbClr val="222222"/>
                </a:solidFill>
                <a:latin typeface="Arial"/>
              </a:defRPr>
            </a:pPr>
            <a:r>
              <a:rPr dirty="0"/>
              <a:t>Master </a:t>
            </a:r>
            <a:r>
              <a:rPr dirty="0" err="1"/>
              <a:t>Professionnel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Infrastructure du </a:t>
            </a:r>
            <a:r>
              <a:rPr dirty="0" err="1"/>
              <a:t>Numérique</a:t>
            </a:r>
            <a:r>
              <a:rPr dirty="0"/>
              <a:t> (MPIN</a:t>
            </a:r>
            <a:r>
              <a:rPr dirty="0" smtClean="0"/>
              <a:t>)</a:t>
            </a:r>
            <a:endParaRPr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rPr dirty="0" err="1" smtClean="0"/>
              <a:t>Objectifs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2B4C7E"/>
                </a:solidFill>
              </a:rPr>
              <a:t>Comprendre l'évolution historique :</a:t>
            </a:r>
            <a:r>
              <a:rPr sz="1800">
                <a:solidFill>
                  <a:srgbClr val="222222"/>
                </a:solidFill>
              </a:rPr>
              <a:t> Pourquoi le modèle monolithique s'est imposé et à quel moment précis il devient un frein à la croissance.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B4C7E"/>
                </a:solidFill>
              </a:rPr>
              <a:t>Maîtriser la Loi de Conway :</a:t>
            </a:r>
            <a:r>
              <a:rPr sz="1800">
                <a:solidFill>
                  <a:srgbClr val="222222"/>
                </a:solidFill>
              </a:rPr>
              <a:t> Analyser l'impact systémique de la structure des équipes sur la topologie du code source.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B4C7E"/>
                </a:solidFill>
              </a:rPr>
              <a:t>Assimiler les piliers des microservices :</a:t>
            </a:r>
            <a:r>
              <a:rPr sz="1800">
                <a:solidFill>
                  <a:srgbClr val="222222"/>
                </a:solidFill>
              </a:rPr>
              <a:t> Découplage de la logique, cycles de livraison autonomes et pattern Database-per-Service.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B4C7E"/>
                </a:solidFill>
              </a:rPr>
              <a:t>Développer un esprit critique d'arbitrage :</a:t>
            </a:r>
            <a:r>
              <a:rPr sz="1800">
                <a:solidFill>
                  <a:srgbClr val="222222"/>
                </a:solidFill>
              </a:rPr>
              <a:t> Acquérir les compétences d'ingénierie nécessaires pour évaluer si une application doit être découpée ou maintenue en monolithe.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t>Le Monolithe : Anatomie d'un Système Unifié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B4C7E"/>
                </a:solidFill>
              </a:defRPr>
            </a:pPr>
            <a:r>
              <a:t>Une base de code unique partagée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Toutes les fonctions métier (Authentification, Catalogue, Paiement, Notification) sont packagées au sein d'un seul et unique artefact exécutable (.jar, .war, .exe, conteneur unique).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Les composants partagent le même espace mémoire et s'exécutent au sein du même runtime.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Une base de données centralisée et partagée sert de référentiel unique pour l'ensemble des modules.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4114800" cy="4114800"/>
          </a:xfrm>
          <a:prstGeom prst="rect">
            <a:avLst/>
          </a:prstGeom>
          <a:solidFill>
            <a:srgbClr val="EEEBE4"/>
          </a:solidFill>
          <a:ln w="25400">
            <a:solidFill>
              <a:srgbClr val="BA3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22222"/>
                </a:solidFill>
                <a:latin typeface="Courier New"/>
              </a:defRPr>
            </a:pPr>
            <a:r>
              <a:t/>
            </a:r>
            <a:br/>
            <a:r>
              <a:t>[ ARCHITECTURE MONOLITHIQUE ]</a:t>
            </a:r>
            <a:br/>
            <a:r>
              <a:t/>
            </a:r>
            <a:br/>
            <a:r>
              <a:t>┌────────────────────────┐</a:t>
            </a:r>
            <a:br/>
            <a:r>
              <a:t>│     Interface Client   │</a:t>
            </a:r>
            <a:br/>
            <a:r>
              <a:t>├────────────────────────┤</a:t>
            </a:r>
            <a:br/>
            <a:r>
              <a:t>│  Logique Métier Unique │</a:t>
            </a:r>
            <a:br/>
            <a:r>
              <a:t>│ (Auth, Catalogue,...)  │</a:t>
            </a:r>
            <a:br/>
            <a:r>
              <a:t>├────────────────────────┤</a:t>
            </a:r>
            <a:br/>
            <a:r>
              <a:t>│   Couche Accès Data    │</a:t>
            </a:r>
            <a:br/>
            <a:r>
              <a:t>└────────────────────────┘</a:t>
            </a:r>
            <a:br/>
            <a:r>
              <a:t>───────────▼───────────</a:t>
            </a:r>
            <a:br/>
            <a:r>
              <a:t>┌────────────────────────┐</a:t>
            </a:r>
            <a:br/>
            <a:r>
              <a:t>│ Base de Données Unique │</a:t>
            </a:r>
            <a:br/>
            <a:r>
              <a:t>└────────────────────────┘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t>Le Monolithe : Pourquoi c'est le point de départ idéal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840480"/>
          </a:xfrm>
          <a:prstGeom prst="roundRect">
            <a:avLst/>
          </a:prstGeom>
          <a:solidFill>
            <a:srgbClr val="EEEBE4"/>
          </a:solidFill>
          <a:ln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BA3C2A"/>
                </a:solidFill>
              </a:defRPr>
            </a:pPr>
            <a:r>
              <a:t>Simplicité Initiale</a:t>
            </a:r>
          </a:p>
          <a:p>
            <a:pPr algn="l">
              <a:defRPr sz="1400">
                <a:solidFill>
                  <a:srgbClr val="222222"/>
                </a:solidFill>
              </a:defRPr>
            </a:pPr>
            <a:r>
              <a:t>Le développement est direct. Pas de gestion de réseau entre modules, outils standards (IDE, debuggers), refactoring global outillé et immédiat.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383280" cy="3840480"/>
          </a:xfrm>
          <a:prstGeom prst="roundRect">
            <a:avLst/>
          </a:prstGeom>
          <a:solidFill>
            <a:srgbClr val="EEEBE4"/>
          </a:solidFill>
          <a:ln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BA3C2A"/>
                </a:solidFill>
              </a:defRPr>
            </a:pPr>
            <a:r>
              <a:t>Performances Maximales</a:t>
            </a:r>
          </a:p>
          <a:p>
            <a:pPr algn="l">
              <a:defRPr sz="1400">
                <a:solidFill>
                  <a:srgbClr val="222222"/>
                </a:solidFill>
              </a:defRPr>
            </a:pPr>
            <a:r>
              <a:t>Les appels inter-modules sont des appels de fonctions locaux en mémoire. Zéro latence réseau, zéro sérialisation/désérialisation CPU-intensive.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83280" cy="3840480"/>
          </a:xfrm>
          <a:prstGeom prst="roundRect">
            <a:avLst/>
          </a:prstGeom>
          <a:solidFill>
            <a:srgbClr val="EEEBE4"/>
          </a:solidFill>
          <a:ln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BA3C2A"/>
                </a:solidFill>
              </a:defRPr>
            </a:pPr>
            <a:r>
              <a:t>Transactions Fortes</a:t>
            </a:r>
          </a:p>
          <a:p>
            <a:pPr algn="l">
              <a:defRPr sz="1400">
                <a:solidFill>
                  <a:srgbClr val="222222"/>
                </a:solidFill>
              </a:defRPr>
            </a:pPr>
            <a:r>
              <a:t>Garanties ACID natives au niveau de la base de données relationnelle. Un 'Commit' ou 'Rollback' global sécurise l'intégrité sans effort distribué.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t>Le Point de Rupture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BA3C2A"/>
                </a:solidFill>
              </a:rPr>
              <a:t>Absence d'isolation des pannes (Single Point of Failure) :</a:t>
            </a:r>
            <a:r>
              <a:rPr sz="1600">
                <a:solidFill>
                  <a:srgbClr val="222222"/>
                </a:solidFill>
              </a:rPr>
              <a:t> Une fuite de mémoire ou une boucle infinie dans le module optionnel d'envoi de mails sature la CPU/RAM et fait crasher l'intégralité du site de vente en ligne.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BA3C2A"/>
                </a:solidFill>
              </a:rPr>
              <a:t>Mise à l'échelle inefficace (Vertical &amp; Monolithic Scaling) :</a:t>
            </a:r>
            <a:r>
              <a:rPr sz="1600">
                <a:solidFill>
                  <a:srgbClr val="222222"/>
                </a:solidFill>
              </a:rPr>
              <a:t> Si le module 'Recherche' requiert 32 Go de RAM, vous devez dupliquer l'intégralité du monolithe sur de grosses machines coûteuses, plutôt que de scaler uniquement le service concerné.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BA3C2A"/>
                </a:solidFill>
              </a:rPr>
              <a:t>Verrouillage technologique (Tech Debt Trap) :</a:t>
            </a:r>
            <a:r>
              <a:rPr sz="1600">
                <a:solidFill>
                  <a:srgbClr val="222222"/>
                </a:solidFill>
              </a:rPr>
              <a:t> Migrer un monolithe de 15 ans d'âge vers une version moderne de langage ou un framework performant est si risqué qu'il est souvent repoussé indéfiniment.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t>Le Point de Rupture Organisationnel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2B4C7E"/>
                </a:solidFill>
              </a:rPr>
              <a:t>La surcharge cognitive du développeur :</a:t>
            </a:r>
            <a:r>
              <a:rPr sz="1600">
                <a:solidFill>
                  <a:srgbClr val="222222"/>
                </a:solidFill>
              </a:rPr>
              <a:t> Personne ne peut comprendre ni maintenir un projet contenant des millions de lignes de code accumulées. Le onboarding des nouveaux ingénieurs prend des mois.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B4C7E"/>
                </a:solidFill>
              </a:rPr>
              <a:t>L'enfer des conflits de code (Merge Hell) :</a:t>
            </a:r>
            <a:r>
              <a:rPr sz="1600">
                <a:solidFill>
                  <a:srgbClr val="222222"/>
                </a:solidFill>
              </a:rPr>
              <a:t> Des dizaines de développeurs modifient quotidiennement les mêmes fichiers ou entités partagées. Les fusions de branches deviennent un exercice quotidien douloureux et source de régressions.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B4C7E"/>
                </a:solidFill>
              </a:rPr>
              <a:t>La perte d'autonomie et d'agilité :</a:t>
            </a:r>
            <a:r>
              <a:rPr sz="1600">
                <a:solidFill>
                  <a:srgbClr val="222222"/>
                </a:solidFill>
              </a:rPr>
              <a:t> Les livraisons nécessitent des coordinations massives entre équipes. Le rythme s'aligne sur l'élément le plus lent du système, étouffant l'innovation produit.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t>La Loi de Conway : L'Origine Sociologique des Systèmes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solidFill>
            <a:srgbClr val="EEEBE4"/>
          </a:solidFill>
          <a:ln>
            <a:solidFill>
              <a:srgbClr val="BA3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 i="1">
                <a:solidFill>
                  <a:srgbClr val="BA3C2A"/>
                </a:solidFill>
              </a:defRPr>
            </a:pPr>
            <a:r>
              <a:t>« Les organisations qui conçoivent des systèmes sont contraintes de produire des designs qui sont des copies de la structure de communication de ces organisations. »</a:t>
            </a:r>
            <a:br/>
            <a:r>
              <a:t>— Melvin Conway (1967)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4C7E"/>
                </a:solidFill>
              </a:defRPr>
            </a:pPr>
            <a:r>
              <a:t>Conséquences opérationnelles concrètes :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Équipes silotées par compétences (équipe UI, équipe Backend, équipe DBA) = Architecture en couches rigides superposées.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La structure managériale dicte l'agencement du code source, souvent au détriment de la logique logicielle intrinsèque.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Tenter de découper un logiciel sans réorganiser les interactions humaines est voué à l'échec.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t>L'Architecture Microservices : Principes Fondamentaux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83280" cy="3840480"/>
          </a:xfrm>
          <a:prstGeom prst="rect">
            <a:avLst/>
          </a:prstGeom>
          <a:solidFill>
            <a:srgbClr val="FAF9F5"/>
          </a:solidFill>
          <a:ln w="19050">
            <a:solidFill>
              <a:srgbClr val="BA3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2B4C7E"/>
                </a:solidFill>
              </a:defRPr>
            </a:pPr>
            <a:r>
              <a:t>1. Autonomie Métier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Chaque service modélise une fonctionnalité ou capacité métier précise (ex: gestion des paniers). Il est géré de bout en bout par une équipe dédiée.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011680"/>
            <a:ext cx="3383280" cy="3840480"/>
          </a:xfrm>
          <a:prstGeom prst="rect">
            <a:avLst/>
          </a:prstGeom>
          <a:solidFill>
            <a:srgbClr val="FAF9F5"/>
          </a:solidFill>
          <a:ln w="19050">
            <a:solidFill>
              <a:srgbClr val="BA3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2B4C7E"/>
                </a:solidFill>
              </a:defRPr>
            </a:pPr>
            <a:r>
              <a:t>2. Déploiement Autonome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Chaque microservice possède son propre pipeline de CI/CD. Il peut être modifié, testé et déployé en production sans aucun impact sur les autres services applicatifs.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011680"/>
            <a:ext cx="3383280" cy="3840480"/>
          </a:xfrm>
          <a:prstGeom prst="rect">
            <a:avLst/>
          </a:prstGeom>
          <a:solidFill>
            <a:srgbClr val="FAF9F5"/>
          </a:solidFill>
          <a:ln w="19050">
            <a:solidFill>
              <a:srgbClr val="BA3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2B4C7E"/>
                </a:solidFill>
              </a:defRPr>
            </a:pPr>
            <a:r>
              <a:t>3. Persistance Isolée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Pattern 'Database-per-Service'. Un service est le propriétaire exclusif de ses données. Aucun autre composant ne peut interroger sa base sans passer par son API.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t>Focus : Le Pattern 'Database-per-Service'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A3C2A"/>
                </a:solidFill>
              </a:defRPr>
            </a:pPr>
            <a:r>
              <a:rPr dirty="0" err="1"/>
              <a:t>Casser</a:t>
            </a:r>
            <a:r>
              <a:rPr dirty="0"/>
              <a:t> le </a:t>
            </a:r>
            <a:r>
              <a:rPr dirty="0" err="1"/>
              <a:t>couplage</a:t>
            </a:r>
            <a:r>
              <a:rPr dirty="0"/>
              <a:t> par la base de </a:t>
            </a:r>
            <a:r>
              <a:rPr dirty="0" err="1"/>
              <a:t>données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• </a:t>
            </a:r>
            <a:r>
              <a:rPr dirty="0" err="1"/>
              <a:t>Dans</a:t>
            </a:r>
            <a:r>
              <a:rPr dirty="0"/>
              <a:t> un </a:t>
            </a:r>
            <a:r>
              <a:rPr dirty="0" err="1"/>
              <a:t>monolithe</a:t>
            </a:r>
            <a:r>
              <a:rPr dirty="0"/>
              <a:t>, les tables </a:t>
            </a:r>
            <a:r>
              <a:rPr dirty="0" err="1"/>
              <a:t>partagées</a:t>
            </a:r>
            <a:r>
              <a:rPr dirty="0"/>
              <a:t> (ex: '</a:t>
            </a:r>
            <a:r>
              <a:rPr dirty="0" err="1"/>
              <a:t>Utilisateurs</a:t>
            </a:r>
            <a:r>
              <a:rPr dirty="0"/>
              <a:t>' </a:t>
            </a:r>
            <a:r>
              <a:rPr dirty="0" err="1"/>
              <a:t>liée</a:t>
            </a:r>
            <a:r>
              <a:rPr dirty="0"/>
              <a:t> à '</a:t>
            </a:r>
            <a:r>
              <a:rPr dirty="0" err="1"/>
              <a:t>Commandes</a:t>
            </a:r>
            <a:r>
              <a:rPr dirty="0"/>
              <a:t>') </a:t>
            </a:r>
            <a:r>
              <a:rPr dirty="0" err="1"/>
              <a:t>créent</a:t>
            </a:r>
            <a:r>
              <a:rPr dirty="0"/>
              <a:t> un </a:t>
            </a:r>
            <a:r>
              <a:rPr dirty="0" err="1"/>
              <a:t>couplage</a:t>
            </a:r>
            <a:r>
              <a:rPr dirty="0"/>
              <a:t> fort invisible au </a:t>
            </a:r>
            <a:r>
              <a:rPr dirty="0" err="1"/>
              <a:t>niveau</a:t>
            </a:r>
            <a:r>
              <a:rPr dirty="0"/>
              <a:t> du code.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•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microservices</a:t>
            </a:r>
            <a:r>
              <a:rPr dirty="0"/>
              <a:t>, le service '</a:t>
            </a:r>
            <a:r>
              <a:rPr dirty="0" err="1"/>
              <a:t>Commande</a:t>
            </a:r>
            <a:r>
              <a:rPr dirty="0"/>
              <a:t>' </a:t>
            </a:r>
            <a:r>
              <a:rPr dirty="0" err="1"/>
              <a:t>possède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base, le service '</a:t>
            </a:r>
            <a:r>
              <a:rPr dirty="0" err="1"/>
              <a:t>Utilisateur</a:t>
            </a:r>
            <a:r>
              <a:rPr dirty="0"/>
              <a:t>' </a:t>
            </a:r>
            <a:r>
              <a:rPr dirty="0" err="1"/>
              <a:t>possède</a:t>
            </a:r>
            <a:r>
              <a:rPr dirty="0"/>
              <a:t> la </a:t>
            </a:r>
            <a:r>
              <a:rPr dirty="0" err="1"/>
              <a:t>sienne</a:t>
            </a:r>
            <a:r>
              <a:rPr dirty="0"/>
              <a:t>. Si '</a:t>
            </a:r>
            <a:r>
              <a:rPr dirty="0" err="1"/>
              <a:t>Commande</a:t>
            </a:r>
            <a:r>
              <a:rPr dirty="0"/>
              <a:t>' a </a:t>
            </a:r>
            <a:r>
              <a:rPr dirty="0" err="1"/>
              <a:t>besoin</a:t>
            </a:r>
            <a:r>
              <a:rPr dirty="0"/>
              <a:t> de </a:t>
            </a:r>
            <a:r>
              <a:rPr dirty="0" err="1"/>
              <a:t>données</a:t>
            </a:r>
            <a:r>
              <a:rPr dirty="0"/>
              <a:t> </a:t>
            </a:r>
            <a:r>
              <a:rPr dirty="0" err="1"/>
              <a:t>utilisateurs</a:t>
            </a:r>
            <a:r>
              <a:rPr dirty="0"/>
              <a:t>,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interroge</a:t>
            </a:r>
            <a:r>
              <a:rPr dirty="0"/>
              <a:t> </a:t>
            </a:r>
            <a:r>
              <a:rPr dirty="0" err="1"/>
              <a:t>l'API</a:t>
            </a:r>
            <a:r>
              <a:rPr dirty="0"/>
              <a:t> de </a:t>
            </a:r>
            <a:r>
              <a:rPr dirty="0" err="1"/>
              <a:t>ce</a:t>
            </a:r>
            <a:r>
              <a:rPr dirty="0"/>
              <a:t> dernier.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• </a:t>
            </a:r>
            <a:r>
              <a:rPr dirty="0" err="1"/>
              <a:t>Bénéfices</a:t>
            </a:r>
            <a:r>
              <a:rPr dirty="0"/>
              <a:t> : </a:t>
            </a:r>
            <a:r>
              <a:rPr dirty="0" err="1"/>
              <a:t>Liberté</a:t>
            </a:r>
            <a:r>
              <a:rPr dirty="0"/>
              <a:t> </a:t>
            </a:r>
            <a:r>
              <a:rPr dirty="0" err="1"/>
              <a:t>totale</a:t>
            </a:r>
            <a:r>
              <a:rPr dirty="0"/>
              <a:t> sur le </a:t>
            </a:r>
            <a:r>
              <a:rPr dirty="0" err="1"/>
              <a:t>modèle</a:t>
            </a:r>
            <a:r>
              <a:rPr dirty="0"/>
              <a:t> (SQL vs NoSQL), indexation sur </a:t>
            </a:r>
            <a:r>
              <a:rPr dirty="0" err="1"/>
              <a:t>mesure</a:t>
            </a:r>
            <a:r>
              <a:rPr dirty="0"/>
              <a:t>, et </a:t>
            </a:r>
            <a:r>
              <a:rPr dirty="0" err="1"/>
              <a:t>aucune</a:t>
            </a:r>
            <a:r>
              <a:rPr dirty="0"/>
              <a:t> </a:t>
            </a:r>
            <a:r>
              <a:rPr dirty="0" err="1"/>
              <a:t>régression</a:t>
            </a:r>
            <a:r>
              <a:rPr dirty="0"/>
              <a:t> de </a:t>
            </a:r>
            <a:r>
              <a:rPr dirty="0" err="1"/>
              <a:t>schéma</a:t>
            </a:r>
            <a:r>
              <a:rPr dirty="0"/>
              <a:t> </a:t>
            </a:r>
            <a:r>
              <a:rPr dirty="0" err="1"/>
              <a:t>partagé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• </a:t>
            </a:r>
            <a:r>
              <a:rPr dirty="0" err="1"/>
              <a:t>Inconvénients</a:t>
            </a:r>
            <a:r>
              <a:rPr dirty="0"/>
              <a:t> </a:t>
            </a:r>
            <a:r>
              <a:rPr dirty="0" err="1"/>
              <a:t>majeurs</a:t>
            </a:r>
            <a:r>
              <a:rPr dirty="0"/>
              <a:t> : </a:t>
            </a:r>
            <a:r>
              <a:rPr dirty="0" err="1"/>
              <a:t>Complexité</a:t>
            </a:r>
            <a:r>
              <a:rPr dirty="0"/>
              <a:t> de jointures </a:t>
            </a:r>
            <a:r>
              <a:rPr dirty="0" err="1"/>
              <a:t>distribuées</a:t>
            </a:r>
            <a:r>
              <a:rPr dirty="0"/>
              <a:t>, </a:t>
            </a:r>
            <a:r>
              <a:rPr dirty="0" err="1"/>
              <a:t>gestion</a:t>
            </a:r>
            <a:r>
              <a:rPr dirty="0"/>
              <a:t> des </a:t>
            </a:r>
            <a:r>
              <a:rPr/>
              <a:t>transactions </a:t>
            </a:r>
            <a:r>
              <a:rPr smtClean="0"/>
              <a:t>Sagas.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132320" y="1645920"/>
            <a:ext cx="4297680" cy="4114800"/>
          </a:xfrm>
          <a:prstGeom prst="rect">
            <a:avLst/>
          </a:prstGeom>
          <a:solidFill>
            <a:srgbClr val="EEEBE4"/>
          </a:solidFill>
          <a:ln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22222"/>
                </a:solidFill>
                <a:latin typeface="Courier New"/>
              </a:defRPr>
            </a:pPr>
            <a:r>
              <a:t/>
            </a:r>
            <a:br/>
            <a:r>
              <a:t>[ VISION CIBLE ISOLÉE ]</a:t>
            </a:r>
            <a:br/>
            <a:r>
              <a:t/>
            </a:r>
            <a:br/>
            <a:r>
              <a:t> Service Catalogue    Service Commande</a:t>
            </a:r>
            <a:br/>
            <a:r>
              <a:t>  ┌──────────┐          ┌──────────┐</a:t>
            </a:r>
            <a:br/>
            <a:r>
              <a:t>  │ Code/API │          │ Code/API │</a:t>
            </a:r>
            <a:br/>
            <a:r>
              <a:t>  └────┬─────┘          └────┬─────┘</a:t>
            </a:r>
            <a:br/>
            <a:r>
              <a:t>       │ (Réseau privé)      │</a:t>
            </a:r>
            <a:br/>
            <a:r>
              <a:t>       ▼                     ▼</a:t>
            </a:r>
            <a:br/>
            <a:r>
              <a:t>  ┌──────────┐          ┌──────────┐</a:t>
            </a:r>
            <a:br/>
            <a:r>
              <a:t>  │ DB-Cat   │          │ DB-Cmd   │</a:t>
            </a:r>
            <a:br/>
            <a:r>
              <a:t>  │ (MongoDB)│          │ (Postgre)│</a:t>
            </a:r>
            <a:br/>
            <a:r>
              <a:t>  └──────────┘          └──────────┘</a:t>
            </a:r>
            <a:br/>
            <a:r>
              <a:t>   Aucun accès direct croisé possible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4836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Manœuvre</a:t>
            </a:r>
            <a:r>
              <a:rPr dirty="0"/>
              <a:t> Inverse de Conway (Inverse Conway Maneuver)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BA3C2A"/>
                </a:solidFill>
              </a:rPr>
              <a:t>Le principe fondamental :</a:t>
            </a:r>
            <a:r>
              <a:rPr sz="1600">
                <a:solidFill>
                  <a:srgbClr val="222222"/>
                </a:solidFill>
              </a:rPr>
              <a:t> Structurer délibérément les équipes humaines de l'organisation pour forcer l'émergence spontanée de l'architecture logicielle cible.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BA3C2A"/>
                </a:solidFill>
              </a:rPr>
              <a:t>Les équipes 'Two-Pizza Teams' (Amazon) :</a:t>
            </a:r>
            <a:r>
              <a:rPr sz="1600">
                <a:solidFill>
                  <a:srgbClr val="222222"/>
                </a:solidFill>
              </a:rPr>
              <a:t> Créer de petites structures pluridisciplinaires autonomes (inférieures à 8-10 personnes). L'équipe intègre des développeurs, un profil Ops/Cloud, un testeur et un Product Owner.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BA3C2A"/>
                </a:solidFill>
              </a:rPr>
              <a:t>Responsabilité de bout en bout (You build it, you run it) :</a:t>
            </a:r>
            <a:r>
              <a:rPr sz="1600">
                <a:solidFill>
                  <a:srgbClr val="222222"/>
                </a:solidFill>
              </a:rPr>
              <a:t> L'équipe ne livre pas du code à une équipe d'exploitation tierce. Elle conçoit, déploie, surveille et corrige son microservice en production, augmentant radicalement le souci de qualité et de résilience.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t>Clés d'Arbitrage : Quand découper l'Application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EEEBE4"/>
          </a:solidFill>
          <a:ln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B4C7E"/>
                </a:solidFill>
              </a:defRPr>
            </a:pPr>
            <a:r>
              <a:t>INDICATEURS FAVORABLES (GO)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✔ Cycles de scalabilité drastiquement opposés (ex: flux vidéo vs gestion profil).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✔ Plusieurs équipes autonomes (30+ ingénieurs) se marchent sur les pieds au quotidien.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✔ Besoin métier d'itérer et de déployer en continu certaines briques spécifiques.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EEEBE4"/>
          </a:solidFill>
          <a:ln>
            <a:solidFill>
              <a:srgbClr val="BA3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BA3C2A"/>
                </a:solidFill>
              </a:defRPr>
            </a:pPr>
            <a:r>
              <a:t>CONTRE-INDICATIONS MAJEURES (NO GO)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✘ Domaine métier instable ou start-up en phase de cadrage (frontières floues).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✘ Petites équipes (insuffisantes pour assumer la surcharge opérationnelle d'infrastructure).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✘ Absence totale d'automatisation (CI/CD inexistante, déploiement manuel).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4575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rPr dirty="0"/>
              <a:t>Le </a:t>
            </a:r>
            <a:r>
              <a:rPr dirty="0" err="1"/>
              <a:t>Paradoxe</a:t>
            </a:r>
            <a:r>
              <a:rPr dirty="0"/>
              <a:t> des </a:t>
            </a:r>
            <a:r>
              <a:rPr dirty="0" err="1"/>
              <a:t>Microservices</a:t>
            </a:r>
            <a:r>
              <a:rPr dirty="0"/>
              <a:t> : Un </a:t>
            </a:r>
            <a:r>
              <a:rPr dirty="0" err="1"/>
              <a:t>Transfert</a:t>
            </a:r>
            <a:r>
              <a:rPr dirty="0"/>
              <a:t> de </a:t>
            </a:r>
            <a:r>
              <a:rPr dirty="0" err="1"/>
              <a:t>Complexité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BA3C2A"/>
                </a:solidFill>
              </a:defRPr>
            </a:pPr>
            <a:r>
              <a:rPr dirty="0"/>
              <a:t>On </a:t>
            </a:r>
            <a:r>
              <a:rPr dirty="0" err="1"/>
              <a:t>n'élimine</a:t>
            </a:r>
            <a:r>
              <a:rPr dirty="0"/>
              <a:t> pas la </a:t>
            </a:r>
            <a:r>
              <a:rPr dirty="0" err="1"/>
              <a:t>complexité</a:t>
            </a:r>
            <a:r>
              <a:rPr dirty="0"/>
              <a:t>, on change </a:t>
            </a:r>
            <a:r>
              <a:rPr dirty="0" err="1"/>
              <a:t>sa</a:t>
            </a:r>
            <a:r>
              <a:rPr dirty="0"/>
              <a:t> nature :</a:t>
            </a: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2B4C7E"/>
                </a:solidFill>
              </a:rPr>
              <a:t>Le </a:t>
            </a:r>
            <a:r>
              <a:rPr sz="1500" b="1" dirty="0" err="1">
                <a:solidFill>
                  <a:srgbClr val="2B4C7E"/>
                </a:solidFill>
              </a:rPr>
              <a:t>réseau</a:t>
            </a:r>
            <a:r>
              <a:rPr sz="1500" b="1" dirty="0">
                <a:solidFill>
                  <a:srgbClr val="2B4C7E"/>
                </a:solidFill>
              </a:rPr>
              <a:t> </a:t>
            </a:r>
            <a:r>
              <a:rPr sz="1500" b="1" dirty="0" err="1">
                <a:solidFill>
                  <a:srgbClr val="2B4C7E"/>
                </a:solidFill>
              </a:rPr>
              <a:t>devient</a:t>
            </a:r>
            <a:r>
              <a:rPr sz="1500" b="1" dirty="0">
                <a:solidFill>
                  <a:srgbClr val="2B4C7E"/>
                </a:solidFill>
              </a:rPr>
              <a:t> </a:t>
            </a:r>
            <a:r>
              <a:rPr sz="1500" b="1" dirty="0" err="1">
                <a:solidFill>
                  <a:srgbClr val="2B4C7E"/>
                </a:solidFill>
              </a:rPr>
              <a:t>faillible</a:t>
            </a:r>
            <a:r>
              <a:rPr sz="1500" b="1" dirty="0">
                <a:solidFill>
                  <a:srgbClr val="2B4C7E"/>
                </a:solidFill>
              </a:rPr>
              <a:t> :</a:t>
            </a:r>
            <a:r>
              <a:rPr sz="1500" dirty="0">
                <a:solidFill>
                  <a:srgbClr val="222222"/>
                </a:solidFill>
              </a:rPr>
              <a:t> Les </a:t>
            </a:r>
            <a:r>
              <a:rPr sz="1500" dirty="0" err="1">
                <a:solidFill>
                  <a:srgbClr val="222222"/>
                </a:solidFill>
              </a:rPr>
              <a:t>appels</a:t>
            </a:r>
            <a:r>
              <a:rPr sz="1500" dirty="0">
                <a:solidFill>
                  <a:srgbClr val="222222"/>
                </a:solidFill>
              </a:rPr>
              <a:t> de </a:t>
            </a:r>
            <a:r>
              <a:rPr sz="1500" dirty="0" err="1">
                <a:solidFill>
                  <a:srgbClr val="222222"/>
                </a:solidFill>
              </a:rPr>
              <a:t>fonctions</a:t>
            </a:r>
            <a:r>
              <a:rPr sz="1500" dirty="0">
                <a:solidFill>
                  <a:srgbClr val="222222"/>
                </a:solidFill>
              </a:rPr>
              <a:t> internes ultra-</a:t>
            </a:r>
            <a:r>
              <a:rPr sz="1500" dirty="0" err="1">
                <a:solidFill>
                  <a:srgbClr val="222222"/>
                </a:solidFill>
              </a:rPr>
              <a:t>rapides</a:t>
            </a:r>
            <a:r>
              <a:rPr sz="1500" dirty="0">
                <a:solidFill>
                  <a:srgbClr val="222222"/>
                </a:solidFill>
              </a:rPr>
              <a:t> se </a:t>
            </a:r>
            <a:r>
              <a:rPr sz="1500" dirty="0" err="1">
                <a:solidFill>
                  <a:srgbClr val="222222"/>
                </a:solidFill>
              </a:rPr>
              <a:t>transforment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en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requêtes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réseau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sujettes</a:t>
            </a:r>
            <a:r>
              <a:rPr sz="1500" dirty="0">
                <a:solidFill>
                  <a:srgbClr val="222222"/>
                </a:solidFill>
              </a:rPr>
              <a:t> aux </a:t>
            </a:r>
            <a:r>
              <a:rPr sz="1500" dirty="0" err="1">
                <a:solidFill>
                  <a:srgbClr val="222222"/>
                </a:solidFill>
              </a:rPr>
              <a:t>pannes</a:t>
            </a:r>
            <a:r>
              <a:rPr sz="1500" dirty="0">
                <a:solidFill>
                  <a:srgbClr val="222222"/>
                </a:solidFill>
              </a:rPr>
              <a:t>, timeouts et </a:t>
            </a:r>
            <a:r>
              <a:rPr sz="1500" dirty="0" err="1">
                <a:solidFill>
                  <a:srgbClr val="222222"/>
                </a:solidFill>
              </a:rPr>
              <a:t>latences</a:t>
            </a:r>
            <a:r>
              <a:rPr sz="1500" dirty="0">
                <a:solidFill>
                  <a:srgbClr val="222222"/>
                </a:solidFill>
              </a:rPr>
              <a:t> variables.</a:t>
            </a: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2B4C7E"/>
                </a:solidFill>
              </a:rPr>
              <a:t>La </a:t>
            </a:r>
            <a:r>
              <a:rPr sz="1500" b="1" dirty="0" err="1">
                <a:solidFill>
                  <a:srgbClr val="2B4C7E"/>
                </a:solidFill>
              </a:rPr>
              <a:t>cohérence</a:t>
            </a:r>
            <a:r>
              <a:rPr sz="1500" b="1" dirty="0">
                <a:solidFill>
                  <a:srgbClr val="2B4C7E"/>
                </a:solidFill>
              </a:rPr>
              <a:t> </a:t>
            </a:r>
            <a:r>
              <a:rPr sz="1500" b="1" dirty="0" err="1">
                <a:solidFill>
                  <a:srgbClr val="2B4C7E"/>
                </a:solidFill>
              </a:rPr>
              <a:t>éventuelle</a:t>
            </a:r>
            <a:r>
              <a:rPr sz="1500" b="1" dirty="0">
                <a:solidFill>
                  <a:srgbClr val="2B4C7E"/>
                </a:solidFill>
              </a:rPr>
              <a:t> (Eventual Consistency) :</a:t>
            </a:r>
            <a:r>
              <a:rPr sz="1500" dirty="0">
                <a:solidFill>
                  <a:srgbClr val="222222"/>
                </a:solidFill>
              </a:rPr>
              <a:t> Plus de transactions ACID </a:t>
            </a:r>
            <a:r>
              <a:rPr sz="1500" dirty="0" err="1">
                <a:solidFill>
                  <a:srgbClr val="222222"/>
                </a:solidFill>
              </a:rPr>
              <a:t>globales</a:t>
            </a:r>
            <a:r>
              <a:rPr sz="1500" dirty="0">
                <a:solidFill>
                  <a:srgbClr val="222222"/>
                </a:solidFill>
              </a:rPr>
              <a:t> simples. Il </a:t>
            </a:r>
            <a:r>
              <a:rPr sz="1500" dirty="0" err="1">
                <a:solidFill>
                  <a:srgbClr val="222222"/>
                </a:solidFill>
              </a:rPr>
              <a:t>faut</a:t>
            </a:r>
            <a:r>
              <a:rPr sz="1500" dirty="0">
                <a:solidFill>
                  <a:srgbClr val="222222"/>
                </a:solidFill>
              </a:rPr>
              <a:t> accepter que les </a:t>
            </a:r>
            <a:r>
              <a:rPr sz="1500" dirty="0" err="1">
                <a:solidFill>
                  <a:srgbClr val="222222"/>
                </a:solidFill>
              </a:rPr>
              <a:t>données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soient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temporairement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désynchronisées</a:t>
            </a:r>
            <a:r>
              <a:rPr sz="1500" dirty="0">
                <a:solidFill>
                  <a:srgbClr val="222222"/>
                </a:solidFill>
              </a:rPr>
              <a:t> entre services </a:t>
            </a:r>
            <a:r>
              <a:rPr sz="1500" dirty="0" err="1">
                <a:solidFill>
                  <a:srgbClr val="222222"/>
                </a:solidFill>
              </a:rPr>
              <a:t>durant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quelques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millisecondes</a:t>
            </a:r>
            <a:r>
              <a:rPr sz="1500" dirty="0">
                <a:solidFill>
                  <a:srgbClr val="222222"/>
                </a:solidFill>
              </a:rPr>
              <a:t>/</a:t>
            </a:r>
            <a:r>
              <a:rPr sz="1500" dirty="0" err="1">
                <a:solidFill>
                  <a:srgbClr val="222222"/>
                </a:solidFill>
              </a:rPr>
              <a:t>secondes</a:t>
            </a:r>
            <a:r>
              <a:rPr sz="1500" dirty="0">
                <a:solidFill>
                  <a:srgbClr val="222222"/>
                </a:solidFill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1" dirty="0" err="1">
                <a:solidFill>
                  <a:srgbClr val="2B4C7E"/>
                </a:solidFill>
              </a:rPr>
              <a:t>L'exigence</a:t>
            </a:r>
            <a:r>
              <a:rPr sz="1500" b="1" dirty="0">
                <a:solidFill>
                  <a:srgbClr val="2B4C7E"/>
                </a:solidFill>
              </a:rPr>
              <a:t> </a:t>
            </a:r>
            <a:r>
              <a:rPr sz="1500" b="1" dirty="0" err="1">
                <a:solidFill>
                  <a:srgbClr val="2B4C7E"/>
                </a:solidFill>
              </a:rPr>
              <a:t>d'observabilité</a:t>
            </a:r>
            <a:r>
              <a:rPr sz="1500" b="1" dirty="0">
                <a:solidFill>
                  <a:srgbClr val="2B4C7E"/>
                </a:solidFill>
              </a:rPr>
              <a:t> :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Comprendre</a:t>
            </a:r>
            <a:r>
              <a:rPr sz="1500" dirty="0">
                <a:solidFill>
                  <a:srgbClr val="222222"/>
                </a:solidFill>
              </a:rPr>
              <a:t> un bug </a:t>
            </a:r>
            <a:r>
              <a:rPr sz="1500" dirty="0" err="1">
                <a:solidFill>
                  <a:srgbClr val="222222"/>
                </a:solidFill>
              </a:rPr>
              <a:t>nécessite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d'agréger</a:t>
            </a:r>
            <a:r>
              <a:rPr sz="1500" dirty="0">
                <a:solidFill>
                  <a:srgbClr val="222222"/>
                </a:solidFill>
              </a:rPr>
              <a:t> des logs </a:t>
            </a:r>
            <a:r>
              <a:rPr sz="1500" dirty="0" err="1">
                <a:solidFill>
                  <a:srgbClr val="222222"/>
                </a:solidFill>
              </a:rPr>
              <a:t>distribués</a:t>
            </a:r>
            <a:r>
              <a:rPr sz="1500" dirty="0">
                <a:solidFill>
                  <a:srgbClr val="222222"/>
                </a:solidFill>
              </a:rPr>
              <a:t>, des </a:t>
            </a:r>
            <a:r>
              <a:rPr sz="1500" dirty="0" err="1">
                <a:solidFill>
                  <a:srgbClr val="222222"/>
                </a:solidFill>
              </a:rPr>
              <a:t>métriques</a:t>
            </a:r>
            <a:r>
              <a:rPr sz="1500" dirty="0">
                <a:solidFill>
                  <a:srgbClr val="222222"/>
                </a:solidFill>
              </a:rPr>
              <a:t> et du </a:t>
            </a:r>
            <a:r>
              <a:rPr sz="1500" dirty="0" err="1">
                <a:solidFill>
                  <a:srgbClr val="222222"/>
                </a:solidFill>
              </a:rPr>
              <a:t>traçage</a:t>
            </a:r>
            <a:r>
              <a:rPr sz="1500" dirty="0">
                <a:solidFill>
                  <a:srgbClr val="222222"/>
                </a:solidFill>
              </a:rPr>
              <a:t> </a:t>
            </a:r>
            <a:r>
              <a:rPr sz="1500" dirty="0" err="1">
                <a:solidFill>
                  <a:srgbClr val="222222"/>
                </a:solidFill>
              </a:rPr>
              <a:t>distribué</a:t>
            </a:r>
            <a:r>
              <a:rPr sz="1500" dirty="0">
                <a:solidFill>
                  <a:srgbClr val="222222"/>
                </a:solidFill>
              </a:rPr>
              <a:t> à travers 15 machines </a:t>
            </a:r>
            <a:r>
              <a:rPr sz="1500" dirty="0" err="1" smtClean="0">
                <a:solidFill>
                  <a:srgbClr val="222222"/>
                </a:solidFill>
              </a:rPr>
              <a:t>différentes</a:t>
            </a:r>
            <a:r>
              <a:rPr lang="fr-FR" sz="1500" dirty="0">
                <a:solidFill>
                  <a:srgbClr val="222222"/>
                </a:solidFill>
              </a:rPr>
              <a:t>.</a:t>
            </a:r>
            <a:endParaRPr sz="1500" dirty="0">
              <a:solidFill>
                <a:srgbClr val="222222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3C2A"/>
                </a:solidFill>
                <a:latin typeface="Arial"/>
              </a:defRPr>
            </a:pPr>
            <a:r>
              <a:t>CHAPITRE 01 : DU MONOLITHE AUX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Arial"/>
              </a:defRPr>
            </a:pPr>
            <a:r>
              <a:rPr dirty="0" err="1" smtClean="0"/>
              <a:t>Synthès</a:t>
            </a:r>
            <a:r>
              <a:rPr lang="fr-FR" dirty="0"/>
              <a:t>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4C7E"/>
                </a:solidFill>
              </a:defRPr>
            </a:pPr>
            <a:r>
              <a:rPr dirty="0"/>
              <a:t>Messages </a:t>
            </a:r>
            <a:r>
              <a:rPr dirty="0" err="1"/>
              <a:t>clés</a:t>
            </a:r>
            <a:r>
              <a:rPr dirty="0"/>
              <a:t> à </a:t>
            </a:r>
            <a:r>
              <a:rPr dirty="0" err="1"/>
              <a:t>retenir</a:t>
            </a:r>
            <a:r>
              <a:rPr dirty="0"/>
              <a:t> pour le terrain :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rPr dirty="0"/>
              <a:t>• Le </a:t>
            </a:r>
            <a:r>
              <a:rPr dirty="0" err="1"/>
              <a:t>monolithe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pas un anti-pattern.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l'architecture</a:t>
            </a:r>
            <a:r>
              <a:rPr dirty="0"/>
              <a:t> par </a:t>
            </a:r>
            <a:r>
              <a:rPr dirty="0" err="1"/>
              <a:t>défaut</a:t>
            </a:r>
            <a:r>
              <a:rPr dirty="0"/>
              <a:t> pour </a:t>
            </a:r>
            <a:r>
              <a:rPr dirty="0" err="1"/>
              <a:t>valider</a:t>
            </a:r>
            <a:r>
              <a:rPr dirty="0"/>
              <a:t> un </a:t>
            </a:r>
            <a:r>
              <a:rPr dirty="0" err="1"/>
              <a:t>produit</a:t>
            </a:r>
            <a:r>
              <a:rPr dirty="0"/>
              <a:t> et </a:t>
            </a:r>
            <a:r>
              <a:rPr dirty="0" err="1"/>
              <a:t>démarrer</a:t>
            </a:r>
            <a:r>
              <a:rPr dirty="0"/>
              <a:t> </a:t>
            </a:r>
            <a:r>
              <a:rPr dirty="0" err="1"/>
              <a:t>rapidement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rPr dirty="0"/>
              <a:t>• Les </a:t>
            </a:r>
            <a:r>
              <a:rPr dirty="0" err="1"/>
              <a:t>microservices</a:t>
            </a:r>
            <a:r>
              <a:rPr dirty="0"/>
              <a:t> </a:t>
            </a:r>
            <a:r>
              <a:rPr dirty="0" err="1"/>
              <a:t>résolvent</a:t>
            </a:r>
            <a:r>
              <a:rPr dirty="0"/>
              <a:t> un </a:t>
            </a:r>
            <a:r>
              <a:rPr dirty="0" err="1"/>
              <a:t>problème</a:t>
            </a:r>
            <a:r>
              <a:rPr dirty="0"/>
              <a:t> </a:t>
            </a:r>
            <a:r>
              <a:rPr dirty="0" err="1"/>
              <a:t>d'échelle</a:t>
            </a:r>
            <a:r>
              <a:rPr dirty="0"/>
              <a:t> </a:t>
            </a:r>
            <a:r>
              <a:rPr dirty="0" err="1"/>
              <a:t>humaine</a:t>
            </a:r>
            <a:r>
              <a:rPr dirty="0"/>
              <a:t> et de </a:t>
            </a:r>
            <a:r>
              <a:rPr dirty="0" err="1"/>
              <a:t>scalabilité</a:t>
            </a:r>
            <a:r>
              <a:rPr dirty="0"/>
              <a:t> </a:t>
            </a:r>
            <a:r>
              <a:rPr dirty="0" err="1"/>
              <a:t>extrême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au prix d'un </a:t>
            </a:r>
            <a:r>
              <a:rPr dirty="0" err="1"/>
              <a:t>fardeau</a:t>
            </a:r>
            <a:r>
              <a:rPr dirty="0"/>
              <a:t> </a:t>
            </a:r>
            <a:r>
              <a:rPr dirty="0" err="1"/>
              <a:t>opérationnel</a:t>
            </a:r>
            <a:r>
              <a:rPr dirty="0"/>
              <a:t> important.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rPr dirty="0"/>
              <a:t>• La </a:t>
            </a:r>
            <a:r>
              <a:rPr dirty="0" err="1"/>
              <a:t>Loi</a:t>
            </a:r>
            <a:r>
              <a:rPr dirty="0"/>
              <a:t> de Conway </a:t>
            </a:r>
            <a:r>
              <a:rPr dirty="0" err="1"/>
              <a:t>prouve</a:t>
            </a:r>
            <a:r>
              <a:rPr dirty="0"/>
              <a:t> que </a:t>
            </a:r>
            <a:r>
              <a:rPr dirty="0" err="1"/>
              <a:t>l'architecture</a:t>
            </a:r>
            <a:r>
              <a:rPr dirty="0"/>
              <a:t> </a:t>
            </a:r>
            <a:r>
              <a:rPr dirty="0" err="1"/>
              <a:t>logicielle</a:t>
            </a:r>
            <a:r>
              <a:rPr dirty="0"/>
              <a:t> et </a:t>
            </a:r>
            <a:r>
              <a:rPr dirty="0" err="1"/>
              <a:t>l'organisation</a:t>
            </a:r>
            <a:r>
              <a:rPr dirty="0"/>
              <a:t> </a:t>
            </a:r>
            <a:r>
              <a:rPr dirty="0" err="1"/>
              <a:t>humaine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</a:t>
            </a:r>
            <a:r>
              <a:rPr dirty="0" err="1"/>
              <a:t>deux</a:t>
            </a:r>
            <a:r>
              <a:rPr dirty="0"/>
              <a:t> faces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même</a:t>
            </a:r>
            <a:r>
              <a:rPr dirty="0"/>
              <a:t> pièce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9" y="323608"/>
            <a:ext cx="1856014" cy="752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1286</Words>
  <Application>Microsoft Office PowerPoint</Application>
  <PresentationFormat>Grand écran</PresentationFormat>
  <Paragraphs>84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Compte Microsoft</cp:lastModifiedBy>
  <cp:revision>8</cp:revision>
  <dcterms:created xsi:type="dcterms:W3CDTF">2013-01-27T09:14:16Z</dcterms:created>
  <dcterms:modified xsi:type="dcterms:W3CDTF">2026-10-29T13:54:31Z</dcterms:modified>
  <cp:category/>
</cp:coreProperties>
</file>