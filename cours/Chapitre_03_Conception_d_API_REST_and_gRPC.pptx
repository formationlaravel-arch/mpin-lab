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49418" cy="18697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rPr dirty="0" err="1"/>
              <a:t>Chapitre</a:t>
            </a:r>
            <a:r>
              <a:rPr dirty="0"/>
              <a:t> 03 : Conception </a:t>
            </a:r>
            <a:r>
              <a:rPr dirty="0" err="1"/>
              <a:t>d'API</a:t>
            </a:r>
            <a:r>
              <a:rPr dirty="0"/>
              <a:t> — REST &amp; </a:t>
            </a:r>
            <a:r>
              <a:rPr dirty="0" err="1"/>
              <a:t>gRPC</a:t>
            </a:r>
            <a:endParaRPr dirty="0"/>
          </a:p>
          <a:p>
            <a:pPr>
              <a:spcBef>
                <a:spcPts val="1500"/>
              </a:spcBef>
              <a:defRPr sz="2200">
                <a:solidFill>
                  <a:srgbClr val="282828"/>
                </a:solidFill>
              </a:defRPr>
            </a:pPr>
            <a:r>
              <a:rPr dirty="0" err="1"/>
              <a:t>Contrat</a:t>
            </a:r>
            <a:r>
              <a:rPr dirty="0"/>
              <a:t> vs </a:t>
            </a:r>
            <a:r>
              <a:rPr dirty="0" err="1"/>
              <a:t>Implémentation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environnement</a:t>
            </a:r>
            <a:r>
              <a:rPr dirty="0"/>
              <a:t> </a:t>
            </a:r>
            <a:r>
              <a:rPr dirty="0" err="1"/>
              <a:t>distribué</a:t>
            </a:r>
            <a:endParaRPr dirty="0"/>
          </a:p>
          <a:p>
            <a:pPr>
              <a:spcBef>
                <a:spcPts val="3000"/>
              </a:spcBef>
              <a:defRPr sz="1600">
                <a:solidFill>
                  <a:srgbClr val="282828"/>
                </a:solidFill>
              </a:defRPr>
            </a:pPr>
            <a:r>
              <a:rPr dirty="0"/>
              <a:t>Master </a:t>
            </a:r>
            <a:r>
              <a:rPr dirty="0" err="1"/>
              <a:t>Professionnel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Infrastructure du </a:t>
            </a:r>
            <a:r>
              <a:rPr dirty="0" err="1"/>
              <a:t>Numérique</a:t>
            </a:r>
            <a:r>
              <a:rPr dirty="0"/>
              <a:t> (MPIN)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 smtClean="0"/>
              <a:t>Objectif</a:t>
            </a:r>
            <a:r>
              <a:rPr lang="fr-FR" dirty="0" smtClean="0"/>
              <a:t>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Maîtriser les niveaux du Modèle de Maturité de Richardson.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Concevoir des contrats d'interface stricts et réutilisables avec OpenAPI v3.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Comprendre le gain de performance de gRPC par rapport à REST/JSON textuel.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Arbitrer le choix d'un protocole selon la nature du trafic (North-South vs East-West).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3. L'API comme Contrat d'Architecture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Découplage strict : L'API est un engagement juridique et fonctionnel entre équipes.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Isolation du runtime : L'implémentation interne peut changer à 100% sans impact pour le consommateur.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Exemple : Passer de PHP/MySQL à Go/PostgreSQL en conservant la même API.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Stabilité : L'indépendance de livraison des microservices repose exclusivement sur la stabilité de leurs API.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4. Le Modèle de Maturité de Richardson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Niveau 0 (The Swamp of POX) : HTTP comme simple transport (Modèle SOAP/RPC basique).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Niveau 1 (Ressources) : Découpage de l'application en endpoints basés sur des ressources métiers (/orders, /products).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Niveau 2 (Verbes HTTP &amp; Statuts) : Utilisation standardisée de la sémantique HTTP (GET, POST, PUT, DELETE) et des codes d'état.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Le standard incontournable visé en production.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Niveau 3 (HATEOAS) : Découverte dynamique via des liens hypermédias injectés dans les réponses.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5. Philosophie Contract-First vs Code-First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L'anti-pattern Code-First : Développer d'abord, documenter après.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Inconvénients : Travail en silo, retards d'intégration, dérives de spécification.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L'approche Contract-First (Design-First) : Rédiger et valider la spécification (YAML/JSON) avant le code.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Bénéfices : Parallélisation immédiate du travail (Front / Back avancent ensemble grâce aux serveurs de Mocks).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6. Structure d'un Contrat OpenAPI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Anatomie simplifiée d'une spécification standard (Fichier YAML) 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openapi: 3.0.0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info: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title: API Gestion des Commandes MPIN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version: 1.0.0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paths: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/orders:</a:t>
            </a:r>
          </a:p>
          <a:p>
            <a:pPr lvl="3">
              <a:spcAft>
                <a:spcPts val="12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post:</a:t>
            </a:r>
          </a:p>
          <a:p>
            <a:pPr lvl="4">
              <a:spcAft>
                <a:spcPts val="12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summary: Créer une commande</a:t>
            </a:r>
          </a:p>
          <a:p>
            <a:pPr lvl="4">
              <a:spcAft>
                <a:spcPts val="12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responses:</a:t>
            </a:r>
          </a:p>
          <a:p>
            <a:pPr lvl="5">
              <a:spcAft>
                <a:spcPts val="1200"/>
              </a:spcAft>
              <a:defRPr sz="1000">
                <a:solidFill>
                  <a:srgbClr val="282828"/>
                </a:solidFill>
                <a:latin typeface="Arial"/>
              </a:defRPr>
            </a:pPr>
            <a:r>
              <a:t>'201':</a:t>
            </a:r>
          </a:p>
          <a:p>
            <a:pPr lvl="6">
              <a:spcAft>
                <a:spcPts val="1200"/>
              </a:spcAft>
              <a:defRPr sz="800">
                <a:solidFill>
                  <a:srgbClr val="282828"/>
                </a:solidFill>
                <a:latin typeface="Arial"/>
              </a:defRPr>
            </a:pPr>
            <a:r>
              <a:t>description: Commande créée avec succès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7. Règles d'Or du Clean Design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Noms exclusivement au pluriel : Utiliser /orders, /products (Proscrire impérativement /createOrder).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Respecter l'idempotence : Un appel GET, PUT ou DELETE répété 10 fois doit laisser le système dans le même état.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Gestion standardisée des erreurs : Imposer la spécification RFC 7807.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Structure JSON unifiée avec type, title, status et detail.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450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rPr dirty="0"/>
              <a:t>8. Les </a:t>
            </a:r>
            <a:r>
              <a:rPr dirty="0" err="1"/>
              <a:t>Limites</a:t>
            </a:r>
            <a:r>
              <a:rPr dirty="0"/>
              <a:t> de REST/JSON </a:t>
            </a:r>
            <a:r>
              <a:rPr dirty="0" err="1"/>
              <a:t>en</a:t>
            </a:r>
            <a:r>
              <a:rPr dirty="0"/>
              <a:t> Inter-Services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Le coût masqué du trafic interne (East-West Traffic) 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Surcharge CPU : Le format JSON textuel exige une sérialisation/désérialisation lourde à grande échelle.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Limites de HTTP/1.1 : Protocole bloquant (une seule requête par connexion TCP active à la fois).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Head-of-Line Blocking : Effet d'engorgement réseau que le benchmark du TP a mis en évidence.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9. Introduction à gRPC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Protocole de communication machine-to-machine à haute performance initialement développé par Google.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Fondation technique exclusive : HTTP/2.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Multiplexage complet : Des centaines de requêtes simultanées sur une unique connexion TCP.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Compression des en-têtes et streaming bidirectionnel natif en temps réel.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10. Protocol Buffers (Protobuf)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Le secret de la vitesse : La sérialisation binaire compacte.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Contrairement au JSON textuel, Protobuf compile les données dans un format binaire optimisé.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Les variables de clés textuelles sont remplacées par des index numériques condensés.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Gain réseau : Un message de 4 à 10 fois plus petit sur le câble et un décodage CPU instantané.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11. Anatomie d'un Contrat .proto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Exemple d'interface fortement typée 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syntax = "proto3";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package inventory;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service InventoryService {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rpc DeductStock (DeductRequest) returns (DeductResponse);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message DeductRequest {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string product_id = 1;</a:t>
            </a:r>
          </a:p>
          <a:p>
            <a:pPr lvl="2">
              <a:spcAft>
                <a:spcPts val="12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int32 quantity = 2;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}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4858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rPr dirty="0"/>
              <a:t>12. </a:t>
            </a:r>
            <a:r>
              <a:rPr dirty="0" err="1"/>
              <a:t>Stratégies</a:t>
            </a:r>
            <a:r>
              <a:rPr dirty="0"/>
              <a:t> </a:t>
            </a:r>
            <a:r>
              <a:rPr dirty="0" err="1"/>
              <a:t>d'Évolution</a:t>
            </a:r>
            <a:r>
              <a:rPr dirty="0"/>
              <a:t> et Versioning </a:t>
            </a:r>
            <a:r>
              <a:rPr dirty="0" err="1"/>
              <a:t>d'API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Faire évoluer la production sans casser les clients existants 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Versioning par l'URL : /api/v1/orders (Simple à router, universel).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Versioning par en-tête (Content Negotiation) : Accept: application/vnd.company.v1+json.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Compatibilité ascendante : Ajouter un champ optionnel est sûr, modifier ou supprimer un champ existant rompt le contrat.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22222"/>
                </a:solidFill>
                <a:latin typeface="Arial"/>
              </a:defRPr>
            </a:pPr>
            <a:r>
              <a:t>13. Tableau d'Arbitrage Suprême : REST vs gRPC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Format de données : REST = Texte brut (JSON) | gRPC = Binaire compact (Protobuf)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Transport réseau : REST = HTTP/1.1 principalement | gRPC = HTTP/2 exclusivement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Contrat d'interface : REST = Optionnel (OpenAPI) | gRPC = Strict et Obligatoire (.proto)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Trafic cible : REST = North-South (Public / Web / Mobile) | gRPC = East-West (Inter-services interne)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817</Words>
  <Application>Microsoft Office PowerPoint</Application>
  <PresentationFormat>Grand écran</PresentationFormat>
  <Paragraphs>78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Compte Microsoft</cp:lastModifiedBy>
  <cp:revision>6</cp:revision>
  <dcterms:created xsi:type="dcterms:W3CDTF">2013-01-27T09:14:16Z</dcterms:created>
  <dcterms:modified xsi:type="dcterms:W3CDTF">2026-10-29T13:55:21Z</dcterms:modified>
  <cp:category/>
</cp:coreProperties>
</file>