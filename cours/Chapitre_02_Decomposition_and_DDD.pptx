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0" d="100"/>
          <a:sy n="110" d="100"/>
        </p:scale>
        <p:origin x="59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 name="TextBox 2"/>
          <p:cNvSpPr txBox="1"/>
          <p:nvPr/>
        </p:nvSpPr>
        <p:spPr>
          <a:xfrm>
            <a:off x="914400" y="1828800"/>
            <a:ext cx="10058400" cy="1828800"/>
          </a:xfrm>
          <a:prstGeom prst="rect">
            <a:avLst/>
          </a:prstGeom>
          <a:noFill/>
        </p:spPr>
        <p:txBody>
          <a:bodyPr wrap="square">
            <a:spAutoFit/>
          </a:bodyPr>
          <a:lstStyle/>
          <a:p>
            <a:pPr>
              <a:defRPr sz="3600" b="1">
                <a:solidFill>
                  <a:srgbClr val="282C34"/>
                </a:solidFill>
                <a:latin typeface="Arial"/>
              </a:defRPr>
            </a:pPr>
            <a:r>
              <a:t>Chapitre 02 : Décomposition &amp; Domain-Driven Design (DDD)</a:t>
            </a:r>
          </a:p>
          <a:p>
            <a:pPr>
              <a:spcBef>
                <a:spcPts val="1400"/>
              </a:spcBef>
              <a:defRPr sz="2000">
                <a:solidFill>
                  <a:srgbClr val="B03A2E"/>
                </a:solidFill>
                <a:latin typeface="Arial"/>
              </a:defRPr>
            </a:pPr>
            <a:r>
              <a:t>Du domaine métier au découpage technique de précision</a:t>
            </a:r>
          </a:p>
        </p:txBody>
      </p:sp>
      <p:sp>
        <p:nvSpPr>
          <p:cNvPr id="4" name="TextBox 3"/>
          <p:cNvSpPr txBox="1"/>
          <p:nvPr/>
        </p:nvSpPr>
        <p:spPr>
          <a:xfrm>
            <a:off x="914400" y="4754880"/>
            <a:ext cx="4794902" cy="292388"/>
          </a:xfrm>
          <a:prstGeom prst="rect">
            <a:avLst/>
          </a:prstGeom>
          <a:noFill/>
        </p:spPr>
        <p:txBody>
          <a:bodyPr wrap="none">
            <a:spAutoFit/>
          </a:bodyPr>
          <a:lstStyle/>
          <a:p>
            <a:pPr>
              <a:defRPr sz="1300">
                <a:solidFill>
                  <a:srgbClr val="282C34"/>
                </a:solidFill>
                <a:latin typeface="Arial"/>
              </a:defRPr>
            </a:pPr>
            <a:r>
              <a:rPr dirty="0"/>
              <a:t>Master </a:t>
            </a:r>
            <a:r>
              <a:rPr dirty="0" err="1"/>
              <a:t>Professionnel</a:t>
            </a:r>
            <a:r>
              <a:rPr dirty="0"/>
              <a:t> </a:t>
            </a:r>
            <a:r>
              <a:rPr dirty="0" err="1"/>
              <a:t>en</a:t>
            </a:r>
            <a:r>
              <a:rPr dirty="0"/>
              <a:t> Infrastructure du </a:t>
            </a:r>
            <a:r>
              <a:rPr dirty="0" err="1"/>
              <a:t>Numérique</a:t>
            </a:r>
            <a:r>
              <a:rPr dirty="0"/>
              <a:t> (MPIN) </a:t>
            </a:r>
            <a:r>
              <a:rPr dirty="0" smtClean="0"/>
              <a:t>•</a:t>
            </a:r>
            <a:endParaRPr dirty="0"/>
          </a:p>
        </p:txBody>
      </p:sp>
      <p:sp>
        <p:nvSpPr>
          <p:cNvPr id="5" name="Rectangle 4"/>
          <p:cNvSpPr/>
          <p:nvPr/>
        </p:nvSpPr>
        <p:spPr>
          <a:xfrm>
            <a:off x="0" y="0"/>
            <a:ext cx="365760" cy="6858000"/>
          </a:xfrm>
          <a:prstGeom prst="rect">
            <a:avLst/>
          </a:prstGeom>
          <a:solidFill>
            <a:srgbClr val="BA3C2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461665"/>
          </a:xfrm>
          <a:prstGeom prst="rect">
            <a:avLst/>
          </a:prstGeom>
          <a:noFill/>
        </p:spPr>
        <p:txBody>
          <a:bodyPr wrap="square">
            <a:spAutoFit/>
          </a:bodyPr>
          <a:lstStyle/>
          <a:p>
            <a:pPr>
              <a:defRPr sz="2400" b="1">
                <a:solidFill>
                  <a:srgbClr val="282C34"/>
                </a:solidFill>
                <a:latin typeface="Arial"/>
              </a:defRPr>
            </a:pPr>
            <a:r>
              <a:rPr dirty="0" err="1" smtClean="0"/>
              <a:t>Objectifs</a:t>
            </a:r>
            <a:endParaRPr dirty="0"/>
          </a:p>
        </p:txBody>
      </p:sp>
      <p:sp>
        <p:nvSpPr>
          <p:cNvPr id="4" name="TextBox 3"/>
          <p:cNvSpPr txBox="1"/>
          <p:nvPr/>
        </p:nvSpPr>
        <p:spPr>
          <a:xfrm>
            <a:off x="548640" y="1645920"/>
            <a:ext cx="10972800" cy="4572000"/>
          </a:xfrm>
          <a:prstGeom prst="rect">
            <a:avLst/>
          </a:prstGeom>
          <a:noFill/>
        </p:spPr>
        <p:txBody>
          <a:bodyPr wrap="square">
            <a:spAutoFit/>
          </a:bodyPr>
          <a:lstStyle/>
          <a:p>
            <a:endParaRPr/>
          </a:p>
          <a:p>
            <a:pPr>
              <a:spcAft>
                <a:spcPts val="1800"/>
              </a:spcAft>
            </a:pPr>
            <a:r>
              <a:rPr sz="1600" b="1">
                <a:solidFill>
                  <a:srgbClr val="B03A2E"/>
                </a:solidFill>
                <a:latin typeface="Arial"/>
              </a:rPr>
              <a:t>• Maîtriser le Cadrage Stratégique :</a:t>
            </a:r>
            <a:r>
              <a:rPr sz="1600">
                <a:solidFill>
                  <a:srgbClr val="282C34"/>
                </a:solidFill>
                <a:latin typeface="Arial"/>
              </a:rPr>
              <a:t> Apprendre à isoler les frontières d'un domaine métier complexe sans contrainte technique initiale.</a:t>
            </a:r>
          </a:p>
          <a:p>
            <a:pPr>
              <a:spcAft>
                <a:spcPts val="1800"/>
              </a:spcAft>
            </a:pPr>
            <a:r>
              <a:rPr sz="1600" b="1">
                <a:solidFill>
                  <a:srgbClr val="B03A2E"/>
                </a:solidFill>
                <a:latin typeface="Arial"/>
              </a:rPr>
              <a:t>• Forger le Langage Ubiquitaire :</a:t>
            </a:r>
            <a:r>
              <a:rPr sz="1600">
                <a:solidFill>
                  <a:srgbClr val="282C34"/>
                </a:solidFill>
                <a:latin typeface="Arial"/>
              </a:rPr>
              <a:t> Supprimer les ambiguïtés sémantiques entre les experts du domaine et l'équipe d'ingénierie.</a:t>
            </a:r>
          </a:p>
          <a:p>
            <a:pPr>
              <a:spcAft>
                <a:spcPts val="1800"/>
              </a:spcAft>
            </a:pPr>
            <a:r>
              <a:rPr sz="1600" b="1">
                <a:solidFill>
                  <a:srgbClr val="B03A2E"/>
                </a:solidFill>
                <a:latin typeface="Arial"/>
              </a:rPr>
              <a:t>• Modéliser des Contextes Bornés (Bounded Contexts) :</a:t>
            </a:r>
            <a:r>
              <a:rPr sz="1600">
                <a:solidFill>
                  <a:srgbClr val="282C34"/>
                </a:solidFill>
                <a:latin typeface="Arial"/>
              </a:rPr>
              <a:t> Définir des modèles de données étanches alignés sur les responsabilités de livraison.</a:t>
            </a:r>
          </a:p>
          <a:p>
            <a:pPr>
              <a:spcAft>
                <a:spcPts val="1800"/>
              </a:spcAft>
            </a:pPr>
            <a:r>
              <a:rPr sz="1600" b="1">
                <a:solidFill>
                  <a:srgbClr val="B03A2E"/>
                </a:solidFill>
                <a:latin typeface="Arial"/>
              </a:rPr>
              <a:t>• Cartographier les Relations (Context Map) :</a:t>
            </a:r>
            <a:r>
              <a:rPr sz="1600">
                <a:solidFill>
                  <a:srgbClr val="282C34"/>
                </a:solidFill>
                <a:latin typeface="Arial"/>
              </a:rPr>
              <a:t> Identifier les flux de dépendance (Upstream/Downstream) et concevoir des couches anti-corruption (ACL).</a:t>
            </a:r>
          </a:p>
          <a:p>
            <a:pPr>
              <a:spcAft>
                <a:spcPts val="1800"/>
              </a:spcAft>
            </a:pPr>
            <a:r>
              <a:rPr sz="1600" b="1">
                <a:solidFill>
                  <a:srgbClr val="B03A2E"/>
                </a:solidFill>
                <a:latin typeface="Arial"/>
              </a:rPr>
              <a:t>• Manipuler les Tactiques DDD :</a:t>
            </a:r>
            <a:r>
              <a:rPr sz="1600">
                <a:solidFill>
                  <a:srgbClr val="282C34"/>
                </a:solidFill>
                <a:latin typeface="Arial"/>
              </a:rPr>
              <a:t> Différencier et architecturer proprement les Entités, Value Objects et racines d'Agrégats complexes.</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Problème du Découpage Naïf : L'Illusion des Frontières</a:t>
            </a:r>
          </a:p>
        </p:txBody>
      </p:sp>
      <p:sp>
        <p:nvSpPr>
          <p:cNvPr id="4" name="Rounded Rectangle 3"/>
          <p:cNvSpPr/>
          <p:nvPr/>
        </p:nvSpPr>
        <p:spPr>
          <a:xfrm>
            <a:off x="548640" y="1828800"/>
            <a:ext cx="5303520" cy="43891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B03A2E"/>
                </a:solidFill>
              </a:defRPr>
            </a:pPr>
            <a:r>
              <a:t>Erreur classique 1 : Découpage par couches</a:t>
            </a:r>
          </a:p>
          <a:p>
            <a:pPr>
              <a:spcAft>
                <a:spcPts val="1000"/>
              </a:spcAft>
              <a:defRPr sz="1300">
                <a:solidFill>
                  <a:srgbClr val="282C34"/>
                </a:solidFill>
              </a:defRPr>
            </a:pPr>
            <a:r>
              <a:t>❌ Création de services purement techniques (Service UI, Service Base de Données, Service Métier global).</a:t>
            </a:r>
          </a:p>
          <a:p>
            <a:pPr>
              <a:spcAft>
                <a:spcPts val="1000"/>
              </a:spcAft>
              <a:defRPr sz="1300">
                <a:solidFill>
                  <a:srgbClr val="282C34"/>
                </a:solidFill>
              </a:defRPr>
            </a:pPr>
            <a:r>
              <a:t>❌ Résultat : Couplage fort immédiat. Toute modification métier transverse exige de modifier et de redéployer l'ensemble des couches en même temps.</a:t>
            </a:r>
          </a:p>
          <a:p>
            <a:pPr>
              <a:spcAft>
                <a:spcPts val="1000"/>
              </a:spcAft>
              <a:defRPr sz="1300">
                <a:solidFill>
                  <a:srgbClr val="282C34"/>
                </a:solidFill>
              </a:defRPr>
            </a:pPr>
            <a:r>
              <a:t>❌ Ce n'est pas une architecture microservices, c'est un monolithe distribué réseau.</a:t>
            </a:r>
          </a:p>
        </p:txBody>
      </p:sp>
      <p:sp>
        <p:nvSpPr>
          <p:cNvPr id="5" name="Rounded Rectangle 4"/>
          <p:cNvSpPr/>
          <p:nvPr/>
        </p:nvSpPr>
        <p:spPr>
          <a:xfrm>
            <a:off x="6309360" y="1828800"/>
            <a:ext cx="5303520" cy="43891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B03A2E"/>
                </a:solidFill>
              </a:defRPr>
            </a:pPr>
            <a:r>
              <a:t>Erreur classique 2 : Découpage par table SQL</a:t>
            </a:r>
          </a:p>
          <a:p>
            <a:pPr>
              <a:spcAft>
                <a:spcPts val="1000"/>
              </a:spcAft>
              <a:defRPr sz="1300">
                <a:solidFill>
                  <a:srgbClr val="282C34"/>
                </a:solidFill>
              </a:defRPr>
            </a:pPr>
            <a:r>
              <a:t>❌ Projeter un microservice par table de base de données (Service Client, Service Commande, Service LigneDeCommande).</a:t>
            </a:r>
          </a:p>
          <a:p>
            <a:pPr>
              <a:spcAft>
                <a:spcPts val="1000"/>
              </a:spcAft>
              <a:defRPr sz="1300">
                <a:solidFill>
                  <a:srgbClr val="282C34"/>
                </a:solidFill>
              </a:defRPr>
            </a:pPr>
            <a:r>
              <a:t>❌ Résultat : Explosion du trafic réseau (chatter) pour reconstituer la moindre donnée métier cohérente.</a:t>
            </a:r>
          </a:p>
          <a:p>
            <a:pPr>
              <a:spcAft>
                <a:spcPts val="1000"/>
              </a:spcAft>
              <a:defRPr sz="1300">
                <a:solidFill>
                  <a:srgbClr val="282C34"/>
                </a:solidFill>
              </a:defRPr>
            </a:pPr>
            <a:r>
              <a:t>❌ Création de transactions distribuées complexes à gérer et effondrement critique de la performance globale.</a:t>
            </a: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Domain-Driven Design (DDD) : Aligner le Code sur le Métier</a:t>
            </a:r>
          </a:p>
        </p:txBody>
      </p:sp>
      <p:sp>
        <p:nvSpPr>
          <p:cNvPr id="4" name="TextBox 3"/>
          <p:cNvSpPr txBox="1"/>
          <p:nvPr/>
        </p:nvSpPr>
        <p:spPr>
          <a:xfrm>
            <a:off x="548640" y="1645920"/>
            <a:ext cx="10972800" cy="4754880"/>
          </a:xfrm>
          <a:prstGeom prst="rect">
            <a:avLst/>
          </a:prstGeom>
          <a:noFill/>
        </p:spPr>
        <p:txBody>
          <a:bodyPr wrap="square">
            <a:spAutoFit/>
          </a:bodyPr>
          <a:lstStyle/>
          <a:p>
            <a:pPr>
              <a:spcAft>
                <a:spcPts val="1400"/>
              </a:spcAft>
              <a:defRPr sz="2000" b="1">
                <a:solidFill>
                  <a:srgbClr val="B03A2E"/>
                </a:solidFill>
              </a:defRPr>
            </a:pPr>
            <a:r>
              <a:t>Genèse et Philosophie (Eric Evans, 2003)</a:t>
            </a:r>
          </a:p>
          <a:p>
            <a:pPr>
              <a:spcAft>
                <a:spcPts val="2000"/>
              </a:spcAft>
              <a:defRPr sz="1600">
                <a:solidFill>
                  <a:srgbClr val="282C34"/>
                </a:solidFill>
              </a:defRPr>
            </a:pPr>
            <a:r>
              <a:t>Le Domain-Driven Design n'est pas une spécification technologique ou un framework de programmation. C'est une approche globale du développement logiciel pour des systèmes complexes qui stipule que la structure et l'architecture du code doivent être le reflet strict et fidèle du domaine métier de l'entreprise.</a:t>
            </a:r>
          </a:p>
          <a:p>
            <a:pPr>
              <a:spcAft>
                <a:spcPts val="1000"/>
              </a:spcAft>
              <a:defRPr sz="1600" b="1">
                <a:solidFill>
                  <a:srgbClr val="282C34"/>
                </a:solidFill>
              </a:defRPr>
            </a:pPr>
            <a:r>
              <a:t>Les Trois Piliers du DDD en Environnement Distribué :</a:t>
            </a:r>
          </a:p>
          <a:p>
            <a:pPr>
              <a:spcAft>
                <a:spcPts val="1000"/>
              </a:spcAft>
              <a:defRPr sz="1500">
                <a:solidFill>
                  <a:srgbClr val="282C34"/>
                </a:solidFill>
              </a:defRPr>
            </a:pPr>
            <a:r>
              <a:t>1. Focus Central sur le Domaine : La technique se soumet aux règles métiers réelles.</a:t>
            </a:r>
            <a:br/>
            <a:r>
              <a:t>2. Exploration Conjointe : Développeurs et experts métiers analysent les modèles ensemble.</a:t>
            </a:r>
            <a:br/>
            <a:r>
              <a:t>3. Modèles Isolés dans des Frontières : Séparer rigoureusement les responsabilités logiques.</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Langage Ubiquitaire (Ubiquitous Language)</a:t>
            </a:r>
          </a:p>
        </p:txBody>
      </p:sp>
      <p:sp>
        <p:nvSpPr>
          <p:cNvPr id="4" name="TextBox 3"/>
          <p:cNvSpPr txBox="1"/>
          <p:nvPr/>
        </p:nvSpPr>
        <p:spPr>
          <a:xfrm>
            <a:off x="548640" y="1645920"/>
            <a:ext cx="10972800" cy="4754880"/>
          </a:xfrm>
          <a:prstGeom prst="rect">
            <a:avLst/>
          </a:prstGeom>
          <a:noFill/>
        </p:spPr>
        <p:txBody>
          <a:bodyPr wrap="square">
            <a:spAutoFit/>
          </a:bodyPr>
          <a:lstStyle/>
          <a:p>
            <a:pPr>
              <a:spcAft>
                <a:spcPts val="1200"/>
              </a:spcAft>
              <a:defRPr sz="1800" b="1">
                <a:solidFill>
                  <a:srgbClr val="B03A2E"/>
                </a:solidFill>
              </a:defRPr>
            </a:pPr>
            <a:r>
              <a:t>Éliminer la Faille de Traduction entre Experts et Ingénieurs</a:t>
            </a:r>
          </a:p>
          <a:p>
            <a:pPr>
              <a:spcAft>
                <a:spcPts val="1400"/>
              </a:spcAft>
              <a:defRPr sz="1500">
                <a:solidFill>
                  <a:srgbClr val="282C34"/>
                </a:solidFill>
              </a:defRPr>
            </a:pPr>
            <a:r>
              <a:t>• Définition : Un langage unique, commun et rigoureusement partagé par toute l'équipe (Product Owners, Développeurs, Experts Métiers, QA) au sein d'un contexte délimité.</a:t>
            </a:r>
          </a:p>
          <a:p>
            <a:pPr>
              <a:spcAft>
                <a:spcPts val="1400"/>
              </a:spcAft>
              <a:defRPr sz="1500">
                <a:solidFill>
                  <a:srgbClr val="282C34"/>
                </a:solidFill>
              </a:defRPr>
            </a:pPr>
            <a:r>
              <a:t>• Règle de Fer : Le langage ubiquitaire est utilisé à l'oral dans les réunions, mais se retrouve textuellement à l'écrit dans les spécifications, dans les contrats d'API, et jusque dans le code source (noms des classes, des méthodes, des tables).</a:t>
            </a:r>
          </a:p>
          <a:p>
            <a:pPr>
              <a:spcAft>
                <a:spcPts val="1400"/>
              </a:spcAft>
              <a:defRPr sz="1500">
                <a:solidFill>
                  <a:srgbClr val="282C34"/>
                </a:solidFill>
              </a:defRPr>
            </a:pPr>
            <a:r>
              <a:t>• Chasse à la Polysémie : Si le terme 'Compte' désigne à la fois un compte bancaire, un profil utilisateur web et une fiche comptable, le langage ubiquitaire impose de segmenter et de renommer pour bannir toute ambiguïté.</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Contexte Borné (Bounded Context) &amp; Modélisation</a:t>
            </a:r>
          </a:p>
        </p:txBody>
      </p:sp>
      <p:sp>
        <p:nvSpPr>
          <p:cNvPr id="4" name="Rounded Rectangle 3"/>
          <p:cNvSpPr/>
          <p:nvPr/>
        </p:nvSpPr>
        <p:spPr>
          <a:xfrm>
            <a:off x="548640" y="2011680"/>
            <a:ext cx="5303520" cy="4114800"/>
          </a:xfrm>
          <a:prstGeom prst="roundRect">
            <a:avLst/>
          </a:prstGeom>
          <a:solidFill>
            <a:srgbClr val="FFFFFF"/>
          </a:solidFill>
          <a:ln w="25400">
            <a:solidFill>
              <a:srgbClr val="B03A2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400" b="1">
                <a:solidFill>
                  <a:srgbClr val="B03A2E"/>
                </a:solidFill>
              </a:defRPr>
            </a:pPr>
            <a:r>
              <a:t>CONTEXTE BORNÉ : CATALOGUE</a:t>
            </a:r>
          </a:p>
          <a:p>
            <a:pPr>
              <a:spcAft>
                <a:spcPts val="800"/>
              </a:spcAft>
              <a:defRPr sz="1200">
                <a:solidFill>
                  <a:srgbClr val="282C34"/>
                </a:solidFill>
              </a:defRPr>
            </a:pPr>
            <a:r>
              <a:t>▪ Concept central : L'Entité 'Produit' marketing.</a:t>
            </a:r>
          </a:p>
          <a:p>
            <a:pPr>
              <a:spcAft>
                <a:spcPts val="800"/>
              </a:spcAft>
              <a:defRPr sz="1200">
                <a:solidFill>
                  <a:srgbClr val="282C34"/>
                </a:solidFill>
              </a:defRPr>
            </a:pPr>
            <a:r>
              <a:t>▪ Attributs : Nom, Description commerciale, Prix de vente HT, Médias/Images, Catégorie.</a:t>
            </a:r>
          </a:p>
          <a:p>
            <a:pPr>
              <a:spcAft>
                <a:spcPts val="800"/>
              </a:spcAft>
              <a:defRPr sz="1200">
                <a:solidFill>
                  <a:srgbClr val="282C34"/>
                </a:solidFill>
              </a:defRPr>
            </a:pPr>
            <a:r>
              <a:t>▪ Focus : Rendre la fiche produit attractive pour le client final.</a:t>
            </a:r>
          </a:p>
        </p:txBody>
      </p:sp>
      <p:sp>
        <p:nvSpPr>
          <p:cNvPr id="5" name="Rounded Rectangle 4"/>
          <p:cNvSpPr/>
          <p:nvPr/>
        </p:nvSpPr>
        <p:spPr>
          <a:xfrm>
            <a:off x="6309360" y="2011680"/>
            <a:ext cx="5303520" cy="4114800"/>
          </a:xfrm>
          <a:prstGeom prst="roundRect">
            <a:avLst/>
          </a:prstGeom>
          <a:solidFill>
            <a:srgbClr val="FFFFFF"/>
          </a:solidFill>
          <a:ln w="25400">
            <a:solidFill>
              <a:srgbClr val="282C3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400" b="1">
                <a:solidFill>
                  <a:srgbClr val="282C34"/>
                </a:solidFill>
              </a:defRPr>
            </a:pPr>
            <a:r>
              <a:t>CONTEXTE BORNÉ : LOGISTIQUE &amp; STOCKS</a:t>
            </a:r>
          </a:p>
          <a:p>
            <a:pPr>
              <a:spcAft>
                <a:spcPts val="800"/>
              </a:spcAft>
              <a:defRPr sz="1200">
                <a:solidFill>
                  <a:srgbClr val="282C34"/>
                </a:solidFill>
              </a:defRPr>
            </a:pPr>
            <a:r>
              <a:t>▪ Concept central : L'Entité 'Produit' physique.</a:t>
            </a:r>
          </a:p>
          <a:p>
            <a:pPr>
              <a:spcAft>
                <a:spcPts val="800"/>
              </a:spcAft>
              <a:defRPr sz="1200">
                <a:solidFill>
                  <a:srgbClr val="282C34"/>
                </a:solidFill>
              </a:defRPr>
            </a:pPr>
            <a:r>
              <a:t>▪ Attributs : Code SKU, Poids en grammes, Dimensions (L/l/h), ID Emplacement entrepôt, Quantité disponible.</a:t>
            </a:r>
          </a:p>
          <a:p>
            <a:pPr>
              <a:spcAft>
                <a:spcPts val="800"/>
              </a:spcAft>
              <a:defRPr sz="1200">
                <a:solidFill>
                  <a:srgbClr val="282C34"/>
                </a:solidFill>
              </a:defRPr>
            </a:pPr>
            <a:r>
              <a:t>▪ Focus : Optimiser la préparation de commande et l'expédition.</a:t>
            </a:r>
          </a:p>
        </p:txBody>
      </p:sp>
      <p:sp>
        <p:nvSpPr>
          <p:cNvPr id="6" name="TextBox 5"/>
          <p:cNvSpPr txBox="1"/>
          <p:nvPr/>
        </p:nvSpPr>
        <p:spPr>
          <a:xfrm>
            <a:off x="548640" y="1371600"/>
            <a:ext cx="10972800" cy="548640"/>
          </a:xfrm>
          <a:prstGeom prst="rect">
            <a:avLst/>
          </a:prstGeom>
          <a:noFill/>
        </p:spPr>
        <p:txBody>
          <a:bodyPr wrap="square">
            <a:spAutoFit/>
          </a:bodyPr>
          <a:lstStyle/>
          <a:p>
            <a:pPr>
              <a:defRPr sz="1400" i="1">
                <a:solidFill>
                  <a:srgbClr val="282C34"/>
                </a:solidFill>
              </a:defRPr>
            </a:pPr>
            <a:r>
              <a:t>Exemple de frontière sémantique : Un même mot concret possède deux modèles différents.</a:t>
            </a:r>
          </a:p>
        </p:txBody>
      </p:sp>
      <p:pic>
        <p:nvPicPr>
          <p:cNvPr id="7" name="Imag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Cartographie des Contextes (Context Mapping)</a:t>
            </a:r>
          </a:p>
        </p:txBody>
      </p:sp>
      <p:sp>
        <p:nvSpPr>
          <p:cNvPr id="4" name="TextBox 3"/>
          <p:cNvSpPr txBox="1"/>
          <p:nvPr/>
        </p:nvSpPr>
        <p:spPr>
          <a:xfrm>
            <a:off x="548640" y="1645920"/>
            <a:ext cx="10972800" cy="4754880"/>
          </a:xfrm>
          <a:prstGeom prst="rect">
            <a:avLst/>
          </a:prstGeom>
          <a:noFill/>
        </p:spPr>
        <p:txBody>
          <a:bodyPr wrap="square">
            <a:spAutoFit/>
          </a:bodyPr>
          <a:lstStyle/>
          <a:p>
            <a:pPr>
              <a:spcAft>
                <a:spcPts val="1400"/>
              </a:spcAft>
              <a:defRPr sz="1800" b="1">
                <a:solidFill>
                  <a:srgbClr val="B03A2E"/>
                </a:solidFill>
              </a:defRPr>
            </a:pPr>
            <a:r>
              <a:t>Formaliser les relations d'interdépendance techniques et politiques</a:t>
            </a:r>
          </a:p>
          <a:p>
            <a:pPr>
              <a:spcAft>
                <a:spcPts val="1000"/>
              </a:spcAft>
            </a:pPr>
            <a:r>
              <a:rPr sz="1400" b="1">
                <a:solidFill>
                  <a:srgbClr val="B03A2E"/>
                </a:solidFill>
                <a:latin typeface="Arial"/>
              </a:rPr>
              <a:t>Relation Upstream (Amont) / Downstream (Aval) :</a:t>
            </a:r>
            <a:r>
              <a:rPr sz="1400">
                <a:solidFill>
                  <a:srgbClr val="282C34"/>
                </a:solidFill>
                <a:latin typeface="Arial"/>
              </a:rPr>
              <a:t> Le service en amont (U) transmet ses données mais n'est pas impacté par les changements en aval (D). Le service aval subit les décisions de l'amont.</a:t>
            </a:r>
          </a:p>
          <a:p>
            <a:pPr>
              <a:spcAft>
                <a:spcPts val="1000"/>
              </a:spcAft>
            </a:pPr>
            <a:r>
              <a:rPr sz="1400" b="1">
                <a:solidFill>
                  <a:srgbClr val="B03A2E"/>
                </a:solidFill>
                <a:latin typeface="Arial"/>
              </a:rPr>
              <a:t>Shared Kernel (Noyau Partagé) :</a:t>
            </a:r>
            <a:r>
              <a:rPr sz="1400">
                <a:solidFill>
                  <a:srgbClr val="282C34"/>
                </a:solidFill>
                <a:latin typeface="Arial"/>
              </a:rPr>
              <a:t> Deux contextes partagent une portion de code ou de base de données commune. Fortement déconseillé en architecture microservices en raison du fort couplage généré.</a:t>
            </a:r>
          </a:p>
          <a:p>
            <a:pPr>
              <a:spcAft>
                <a:spcPts val="1000"/>
              </a:spcAft>
            </a:pPr>
            <a:r>
              <a:rPr sz="1400" b="1">
                <a:solidFill>
                  <a:srgbClr val="B03A2E"/>
                </a:solidFill>
                <a:latin typeface="Arial"/>
              </a:rPr>
              <a:t>Customer-Supplier (Client-Fournisseur) :</a:t>
            </a:r>
            <a:r>
              <a:rPr sz="1400">
                <a:solidFill>
                  <a:srgbClr val="282C34"/>
                </a:solidFill>
                <a:latin typeface="Arial"/>
              </a:rPr>
              <a:t> L'amont planifie ses livraisons et modifications en tenant compte de façon contractuelle des besoins stricts du consommateur en aval.</a:t>
            </a:r>
          </a:p>
          <a:p>
            <a:pPr>
              <a:spcAft>
                <a:spcPts val="1000"/>
              </a:spcAft>
            </a:pPr>
            <a:r>
              <a:rPr sz="1400" b="1">
                <a:solidFill>
                  <a:srgbClr val="B03A2E"/>
                </a:solidFill>
                <a:latin typeface="Arial"/>
              </a:rPr>
              <a:t>Anticorruption Layer (ACL / Couche Anti-Corruption) :</a:t>
            </a:r>
            <a:r>
              <a:rPr sz="1400">
                <a:solidFill>
                  <a:srgbClr val="282C34"/>
                </a:solidFill>
                <a:latin typeface="Arial"/>
              </a:rPr>
              <a:t> Composant technique critique placé dans le service aval. Il traduit les modèles externes vers son propre modèle sain, protégeant ainsi son intégrité métier interne.</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Analyse Stratégique : Classification en Sous-Domaines</a:t>
            </a:r>
          </a:p>
        </p:txBody>
      </p:sp>
      <p:sp>
        <p:nvSpPr>
          <p:cNvPr id="4" name="Rounded Rectangle 3"/>
          <p:cNvSpPr/>
          <p:nvPr/>
        </p:nvSpPr>
        <p:spPr>
          <a:xfrm>
            <a:off x="548640" y="2011680"/>
            <a:ext cx="3474720" cy="4114800"/>
          </a:xfrm>
          <a:prstGeom prst="roundRect">
            <a:avLst/>
          </a:prstGeom>
          <a:solidFill>
            <a:srgbClr val="FFFFFF"/>
          </a:solidFill>
          <a:ln w="19050">
            <a:solidFill>
              <a:srgbClr val="B03A2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500" b="1">
                <a:solidFill>
                  <a:srgbClr val="B03A2E"/>
                </a:solidFill>
              </a:defRPr>
            </a:pPr>
            <a:r>
              <a:t>1. Cœur de Métier</a:t>
            </a:r>
            <a:br/>
            <a:r>
              <a:t>(Core Domain)</a:t>
            </a:r>
          </a:p>
          <a:p>
            <a:pPr>
              <a:spcAft>
                <a:spcPts val="800"/>
              </a:spcAft>
              <a:defRPr sz="1200">
                <a:solidFill>
                  <a:srgbClr val="282C34"/>
                </a:solidFill>
              </a:defRPr>
            </a:pPr>
            <a:r>
              <a:t>• La valeur ajoutée unique et différenciatrice de l'entreprise.</a:t>
            </a:r>
          </a:p>
          <a:p>
            <a:pPr>
              <a:spcAft>
                <a:spcPts val="800"/>
              </a:spcAft>
              <a:defRPr sz="1200">
                <a:solidFill>
                  <a:srgbClr val="282C34"/>
                </a:solidFill>
              </a:defRPr>
            </a:pPr>
            <a:r>
              <a:t>• Le code doit être développé sur mesure en interne avec le plus grand soin.</a:t>
            </a:r>
          </a:p>
          <a:p>
            <a:pPr>
              <a:spcAft>
                <a:spcPts val="800"/>
              </a:spcAft>
              <a:defRPr sz="1200">
                <a:solidFill>
                  <a:srgbClr val="282C34"/>
                </a:solidFill>
              </a:defRPr>
            </a:pPr>
            <a:r>
              <a:t>• Exemple : Algorithme de recommandation prédictif pour un site de streaming.</a:t>
            </a:r>
          </a:p>
        </p:txBody>
      </p:sp>
      <p:sp>
        <p:nvSpPr>
          <p:cNvPr id="5" name="Rounded Rectangle 4"/>
          <p:cNvSpPr/>
          <p:nvPr/>
        </p:nvSpPr>
        <p:spPr>
          <a:xfrm>
            <a:off x="4297680" y="2011680"/>
            <a:ext cx="3474720" cy="4114800"/>
          </a:xfrm>
          <a:prstGeom prst="roundRect">
            <a:avLst/>
          </a:prstGeom>
          <a:solidFill>
            <a:srgbClr val="FFFFFF"/>
          </a:solidFill>
          <a:ln w="19050">
            <a:solidFill>
              <a:srgbClr val="282C3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500" b="1">
                <a:solidFill>
                  <a:srgbClr val="282C34"/>
                </a:solidFill>
              </a:defRPr>
            </a:pPr>
            <a:r>
              <a:t>2. Domaine de Support</a:t>
            </a:r>
            <a:br/>
            <a:r>
              <a:t>(Supporting Domain)</a:t>
            </a:r>
          </a:p>
          <a:p>
            <a:pPr>
              <a:spcAft>
                <a:spcPts val="800"/>
              </a:spcAft>
              <a:defRPr sz="1200">
                <a:solidFill>
                  <a:srgbClr val="282C34"/>
                </a:solidFill>
              </a:defRPr>
            </a:pPr>
            <a:r>
              <a:t>• Nécessaire au fonctionnement global mais non différenciateur.</a:t>
            </a:r>
          </a:p>
          <a:p>
            <a:pPr>
              <a:spcAft>
                <a:spcPts val="800"/>
              </a:spcAft>
              <a:defRPr sz="1200">
                <a:solidFill>
                  <a:srgbClr val="282C34"/>
                </a:solidFill>
              </a:defRPr>
            </a:pPr>
            <a:r>
              <a:t>• Complexité moyenne, pas d'avantage concurrentiel direct.</a:t>
            </a:r>
          </a:p>
          <a:p>
            <a:pPr>
              <a:spcAft>
                <a:spcPts val="800"/>
              </a:spcAft>
              <a:defRPr sz="1200">
                <a:solidFill>
                  <a:srgbClr val="282C34"/>
                </a:solidFill>
              </a:defRPr>
            </a:pPr>
            <a:r>
              <a:t>• Exemple : Module de suivi des notes de frais ou de gestion des plannings internes.</a:t>
            </a:r>
          </a:p>
        </p:txBody>
      </p:sp>
      <p:sp>
        <p:nvSpPr>
          <p:cNvPr id="6" name="Rounded Rectangle 5"/>
          <p:cNvSpPr/>
          <p:nvPr/>
        </p:nvSpPr>
        <p:spPr>
          <a:xfrm>
            <a:off x="8046720" y="2011680"/>
            <a:ext cx="3474720" cy="4114800"/>
          </a:xfrm>
          <a:prstGeom prst="roundRect">
            <a:avLst/>
          </a:prstGeom>
          <a:solidFill>
            <a:srgbClr val="FFFFFF"/>
          </a:solidFill>
          <a:ln w="19050">
            <a:solidFill>
              <a:srgbClr val="282C3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500" b="1">
                <a:solidFill>
                  <a:srgbClr val="282C34"/>
                </a:solidFill>
              </a:defRPr>
            </a:pPr>
            <a:r>
              <a:t>3. Domaine Générique</a:t>
            </a:r>
            <a:br/>
            <a:r>
              <a:t>(Generic Domain)</a:t>
            </a:r>
          </a:p>
          <a:p>
            <a:pPr>
              <a:spcAft>
                <a:spcPts val="800"/>
              </a:spcAft>
              <a:defRPr sz="1200">
                <a:solidFill>
                  <a:srgbClr val="282C34"/>
                </a:solidFill>
              </a:defRPr>
            </a:pPr>
            <a:r>
              <a:t>• Problème standard de l'industrie informatique.</a:t>
            </a:r>
          </a:p>
          <a:p>
            <a:pPr>
              <a:spcAft>
                <a:spcPts val="800"/>
              </a:spcAft>
              <a:defRPr sz="1200">
                <a:solidFill>
                  <a:srgbClr val="282C34"/>
                </a:solidFill>
              </a:defRPr>
            </a:pPr>
            <a:r>
              <a:t>• Il est fortement recommandé d'acheter une solution sur l'étagère ou d'intégrer du SaaS.</a:t>
            </a:r>
          </a:p>
          <a:p>
            <a:pPr>
              <a:spcAft>
                <a:spcPts val="800"/>
              </a:spcAft>
              <a:defRPr sz="1200">
                <a:solidFill>
                  <a:srgbClr val="282C34"/>
                </a:solidFill>
              </a:defRPr>
            </a:pPr>
            <a:r>
              <a:t>• Exemple : Système d'authentification utilisateur (OAuth2/OIDC via Keycloak).</a:t>
            </a:r>
          </a:p>
        </p:txBody>
      </p:sp>
      <p:pic>
        <p:nvPicPr>
          <p:cNvPr id="7" name="Imag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DDD Tactique : Les Frontières Internes du Code Source</a:t>
            </a:r>
          </a:p>
        </p:txBody>
      </p:sp>
      <p:sp>
        <p:nvSpPr>
          <p:cNvPr id="4" name="TextBox 3"/>
          <p:cNvSpPr txBox="1"/>
          <p:nvPr/>
        </p:nvSpPr>
        <p:spPr>
          <a:xfrm>
            <a:off x="548640" y="1645920"/>
            <a:ext cx="10972800" cy="4754880"/>
          </a:xfrm>
          <a:prstGeom prst="rect">
            <a:avLst/>
          </a:prstGeom>
          <a:noFill/>
        </p:spPr>
        <p:txBody>
          <a:bodyPr wrap="square">
            <a:spAutoFit/>
          </a:bodyPr>
          <a:lstStyle/>
          <a:p>
            <a:pPr>
              <a:spcAft>
                <a:spcPts val="1400"/>
              </a:spcAft>
              <a:defRPr sz="1800" b="1">
                <a:solidFill>
                  <a:srgbClr val="B03A2E"/>
                </a:solidFill>
              </a:defRPr>
            </a:pPr>
            <a:r>
              <a:t>Du Macro-Découpage Stratégique à l'Architecture Applicative</a:t>
            </a:r>
          </a:p>
          <a:p>
            <a:pPr>
              <a:spcAft>
                <a:spcPts val="1400"/>
              </a:spcAft>
              <a:defRPr sz="1500">
                <a:solidFill>
                  <a:srgbClr val="282C34"/>
                </a:solidFill>
              </a:defRPr>
            </a:pPr>
            <a:r>
              <a:t>Une fois les contextes nés stratégiquement (un microservice = un contexte borné), le DDD tactique outille l'ingénieur pour modéliser le code à l'intérieur de cette boîte noire. Il s'appuie le plus souvent sur l'Architecture Hexagonale (Ports &amp; Adaptateurs) :</a:t>
            </a:r>
          </a:p>
          <a:p>
            <a:pPr>
              <a:spcAft>
                <a:spcPts val="1000"/>
              </a:spcAft>
              <a:defRPr sz="1400">
                <a:solidFill>
                  <a:srgbClr val="282C34"/>
                </a:solidFill>
              </a:defRPr>
            </a:pPr>
            <a:r>
              <a:t>▪ Le Noyau Métier (Noyau Pur) : Contient exclusivement la logique pure, les entités et les règles métiers. Aucune dépendance vers une base de données, un framework web ou le réseau.</a:t>
            </a:r>
          </a:p>
          <a:p>
            <a:pPr>
              <a:spcAft>
                <a:spcPts val="1000"/>
              </a:spcAft>
              <a:defRPr sz="1400">
                <a:solidFill>
                  <a:srgbClr val="282C34"/>
                </a:solidFill>
              </a:defRPr>
            </a:pPr>
            <a:r>
              <a:t>▪ Les Ports : Interfaces définissant les intentions d'entrée ou de sortie du système.</a:t>
            </a:r>
          </a:p>
          <a:p>
            <a:pPr>
              <a:spcAft>
                <a:spcPts val="1000"/>
              </a:spcAft>
              <a:defRPr sz="1400">
                <a:solidFill>
                  <a:srgbClr val="282C34"/>
                </a:solidFill>
              </a:defRPr>
            </a:pPr>
            <a:r>
              <a:t>▪ Les Adaptateurs : Implémentations techniques concrètes (Adaptateur REST Controller, Adaptateur PostgreSQL Repository, Adaptateur Kafka Producer).</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Composants Tactiques : Entités vs Value Objects</a:t>
            </a:r>
          </a:p>
        </p:txBody>
      </p:sp>
      <p:graphicFrame>
        <p:nvGraphicFramePr>
          <p:cNvPr id="4" name="Table 3"/>
          <p:cNvGraphicFramePr>
            <a:graphicFrameLocks noGrp="1"/>
          </p:cNvGraphicFramePr>
          <p:nvPr/>
        </p:nvGraphicFramePr>
        <p:xfrm>
          <a:off x="548640" y="1828800"/>
          <a:ext cx="11093500" cy="4114800"/>
        </p:xfrm>
        <a:graphic>
          <a:graphicData uri="http://schemas.openxmlformats.org/drawingml/2006/table">
            <a:tbl>
              <a:tblPr firstRow="1" bandRow="1">
                <a:tableStyleId>{5C22544A-7EE6-4342-B048-85BDC9FD1C3A}</a:tableStyleId>
              </a:tblPr>
              <a:tblGrid>
                <a:gridCol w="2286000"/>
                <a:gridCol w="4403750"/>
                <a:gridCol w="4403750"/>
              </a:tblGrid>
              <a:tr h="822960">
                <a:tc>
                  <a:txBody>
                    <a:bodyPr/>
                    <a:lstStyle/>
                    <a:p>
                      <a:pPr algn="ctr">
                        <a:defRPr sz="1400" b="1">
                          <a:solidFill>
                            <a:srgbClr val="FFFFFF"/>
                          </a:solidFill>
                        </a:defRPr>
                      </a:pPr>
                      <a:r>
                        <a:t>Critère</a:t>
                      </a:r>
                    </a:p>
                  </a:txBody>
                  <a:tcPr>
                    <a:solidFill>
                      <a:srgbClr val="B03A2E"/>
                    </a:solidFill>
                  </a:tcPr>
                </a:tc>
                <a:tc>
                  <a:txBody>
                    <a:bodyPr/>
                    <a:lstStyle/>
                    <a:p>
                      <a:pPr algn="ctr">
                        <a:defRPr sz="1400" b="1">
                          <a:solidFill>
                            <a:srgbClr val="FFFFFF"/>
                          </a:solidFill>
                        </a:defRPr>
                      </a:pPr>
                      <a:r>
                        <a:t>L'Entité (Entity)</a:t>
                      </a:r>
                    </a:p>
                  </a:txBody>
                  <a:tcPr>
                    <a:solidFill>
                      <a:srgbClr val="B03A2E"/>
                    </a:solidFill>
                  </a:tcPr>
                </a:tc>
                <a:tc>
                  <a:txBody>
                    <a:bodyPr/>
                    <a:lstStyle/>
                    <a:p>
                      <a:pPr algn="ctr">
                        <a:defRPr sz="1400" b="1">
                          <a:solidFill>
                            <a:srgbClr val="FFFFFF"/>
                          </a:solidFill>
                        </a:defRPr>
                      </a:pPr>
                      <a:r>
                        <a:t>Le Objet-Valeur (Value Object)</a:t>
                      </a:r>
                    </a:p>
                  </a:txBody>
                  <a:tcPr>
                    <a:solidFill>
                      <a:srgbClr val="B03A2E"/>
                    </a:solidFill>
                  </a:tcPr>
                </a:tc>
              </a:tr>
              <a:tr h="822960">
                <a:tc>
                  <a:txBody>
                    <a:bodyPr/>
                    <a:lstStyle/>
                    <a:p>
                      <a:pPr>
                        <a:defRPr sz="1200" b="1">
                          <a:solidFill>
                            <a:srgbClr val="282C34"/>
                          </a:solidFill>
                        </a:defRPr>
                      </a:pPr>
                      <a:r>
                        <a:t>Identité</a:t>
                      </a:r>
                    </a:p>
                  </a:txBody>
                  <a:tcPr>
                    <a:solidFill>
                      <a:srgbClr val="FFFFFF"/>
                    </a:solidFill>
                  </a:tcPr>
                </a:tc>
                <a:tc>
                  <a:txBody>
                    <a:bodyPr/>
                    <a:lstStyle/>
                    <a:p>
                      <a:pPr>
                        <a:defRPr sz="1200">
                          <a:solidFill>
                            <a:srgbClr val="282C34"/>
                          </a:solidFill>
                        </a:defRPr>
                      </a:pPr>
                      <a:r>
                        <a:t>Définie par un ID unique persistant (ex: ID_Client). Reste identique même si ses attributs changent.</a:t>
                      </a:r>
                    </a:p>
                  </a:txBody>
                  <a:tcPr>
                    <a:solidFill>
                      <a:srgbClr val="FFFFFF"/>
                    </a:solidFill>
                  </a:tcPr>
                </a:tc>
                <a:tc>
                  <a:txBody>
                    <a:bodyPr/>
                    <a:lstStyle/>
                    <a:p>
                      <a:pPr>
                        <a:defRPr sz="1200">
                          <a:solidFill>
                            <a:srgbClr val="282C34"/>
                          </a:solidFill>
                        </a:defRPr>
                      </a:pPr>
                      <a:r>
                        <a:t>Pas d'identité propre. Défini uniquement par l'exactitude structurelle de la totalité de ses valeurs.</a:t>
                      </a:r>
                    </a:p>
                  </a:txBody>
                  <a:tcPr>
                    <a:solidFill>
                      <a:srgbClr val="FFFFFF"/>
                    </a:solidFill>
                  </a:tcPr>
                </a:tc>
              </a:tr>
              <a:tr h="822960">
                <a:tc>
                  <a:txBody>
                    <a:bodyPr/>
                    <a:lstStyle/>
                    <a:p>
                      <a:pPr>
                        <a:defRPr sz="1200" b="1">
                          <a:solidFill>
                            <a:srgbClr val="282C34"/>
                          </a:solidFill>
                        </a:defRPr>
                      </a:pPr>
                      <a:r>
                        <a:t>Mutabilité</a:t>
                      </a:r>
                    </a:p>
                  </a:txBody>
                  <a:tcPr>
                    <a:solidFill>
                      <a:srgbClr val="FFFFFF"/>
                    </a:solidFill>
                  </a:tcPr>
                </a:tc>
                <a:tc>
                  <a:txBody>
                    <a:bodyPr/>
                    <a:lstStyle/>
                    <a:p>
                      <a:pPr>
                        <a:defRPr sz="1200">
                          <a:solidFill>
                            <a:srgbClr val="282C34"/>
                          </a:solidFill>
                        </a:defRPr>
                      </a:pPr>
                      <a:r>
                        <a:t>Mutable. Ses propriétés internes peuvent changer au cours du temps (ex: changement de nom).</a:t>
                      </a:r>
                    </a:p>
                  </a:txBody>
                  <a:tcPr>
                    <a:solidFill>
                      <a:srgbClr val="FFFFFF"/>
                    </a:solidFill>
                  </a:tcPr>
                </a:tc>
                <a:tc>
                  <a:txBody>
                    <a:bodyPr/>
                    <a:lstStyle/>
                    <a:p>
                      <a:pPr>
                        <a:defRPr sz="1200">
                          <a:solidFill>
                            <a:srgbClr val="282C34"/>
                          </a:solidFill>
                        </a:defRPr>
                      </a:pPr>
                      <a:r>
                        <a:t>Strictement Immuable. Pour modifier un Value Object, on le remplace entièrement par une nouvelle instance.</a:t>
                      </a:r>
                    </a:p>
                  </a:txBody>
                  <a:tcPr>
                    <a:solidFill>
                      <a:srgbClr val="FFFFFF"/>
                    </a:solidFill>
                  </a:tcPr>
                </a:tc>
              </a:tr>
              <a:tr h="822960">
                <a:tc>
                  <a:txBody>
                    <a:bodyPr/>
                    <a:lstStyle/>
                    <a:p>
                      <a:pPr>
                        <a:defRPr sz="1200" b="1">
                          <a:solidFill>
                            <a:srgbClr val="282C34"/>
                          </a:solidFill>
                        </a:defRPr>
                      </a:pPr>
                      <a:r>
                        <a:t>Exemple Concret</a:t>
                      </a:r>
                    </a:p>
                  </a:txBody>
                  <a:tcPr>
                    <a:solidFill>
                      <a:srgbClr val="FFFFFF"/>
                    </a:solidFill>
                  </a:tcPr>
                </a:tc>
                <a:tc>
                  <a:txBody>
                    <a:bodyPr/>
                    <a:lstStyle/>
                    <a:p>
                      <a:pPr>
                        <a:defRPr sz="1200">
                          <a:solidFill>
                            <a:srgbClr val="282C34"/>
                          </a:solidFill>
                        </a:defRPr>
                      </a:pPr>
                      <a:r>
                        <a:t>Un Client, Une Commande, Un Compte Bancaire.</a:t>
                      </a:r>
                    </a:p>
                  </a:txBody>
                  <a:tcPr>
                    <a:solidFill>
                      <a:srgbClr val="FFFFFF"/>
                    </a:solidFill>
                  </a:tcPr>
                </a:tc>
                <a:tc>
                  <a:txBody>
                    <a:bodyPr/>
                    <a:lstStyle/>
                    <a:p>
                      <a:pPr>
                        <a:defRPr sz="1200">
                          <a:solidFill>
                            <a:srgbClr val="282C34"/>
                          </a:solidFill>
                        </a:defRPr>
                      </a:pPr>
                      <a:r>
                        <a:t>Une Adresse Postale, Un Montant Monétaire (10 EUR), Une Couleur (RGB).</a:t>
                      </a:r>
                    </a:p>
                  </a:txBody>
                  <a:tcPr>
                    <a:solidFill>
                      <a:srgbClr val="FFFFFF"/>
                    </a:solidFill>
                  </a:tcPr>
                </a:tc>
              </a:tr>
              <a:tr h="822960">
                <a:tc>
                  <a:txBody>
                    <a:bodyPr/>
                    <a:lstStyle/>
                    <a:p>
                      <a:pPr>
                        <a:defRPr sz="1200" b="1">
                          <a:solidFill>
                            <a:srgbClr val="282C34"/>
                          </a:solidFill>
                        </a:defRPr>
                      </a:pPr>
                      <a:r>
                        <a:t>Stockage SQL</a:t>
                      </a:r>
                    </a:p>
                  </a:txBody>
                  <a:tcPr>
                    <a:solidFill>
                      <a:srgbClr val="FFFFFF"/>
                    </a:solidFill>
                  </a:tcPr>
                </a:tc>
                <a:tc>
                  <a:txBody>
                    <a:bodyPr/>
                    <a:lstStyle/>
                    <a:p>
                      <a:pPr>
                        <a:defRPr sz="1200">
                          <a:solidFill>
                            <a:srgbClr val="282C34"/>
                          </a:solidFill>
                        </a:defRPr>
                      </a:pPr>
                      <a:r>
                        <a:t>Possède sa propre table dédiée avec une clé primaire.</a:t>
                      </a:r>
                    </a:p>
                  </a:txBody>
                  <a:tcPr>
                    <a:solidFill>
                      <a:srgbClr val="FFFFFF"/>
                    </a:solidFill>
                  </a:tcPr>
                </a:tc>
                <a:tc>
                  <a:txBody>
                    <a:bodyPr/>
                    <a:lstStyle/>
                    <a:p>
                      <a:pPr>
                        <a:defRPr sz="1200">
                          <a:solidFill>
                            <a:srgbClr val="282C34"/>
                          </a:solidFill>
                        </a:defRPr>
                      </a:pPr>
                      <a:r>
                        <a:t>Ses colonnes sont aplaties et intégrées directement dans la table de l'entité parente.</a:t>
                      </a:r>
                    </a:p>
                  </a:txBody>
                  <a:tcPr>
                    <a:solidFill>
                      <a:srgbClr val="FFFFFF"/>
                    </a:solidFill>
                  </a:tcPr>
                </a:tc>
              </a:tr>
            </a:tbl>
          </a:graphicData>
        </a:graphic>
      </p:graphicFrame>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Le Concept Central d'Agrégat (Aggregate)</a:t>
            </a:r>
          </a:p>
        </p:txBody>
      </p:sp>
      <p:sp>
        <p:nvSpPr>
          <p:cNvPr id="4" name="Rounded Rectangle 3"/>
          <p:cNvSpPr/>
          <p:nvPr/>
        </p:nvSpPr>
        <p:spPr>
          <a:xfrm>
            <a:off x="548640" y="2011680"/>
            <a:ext cx="5486400" cy="4114800"/>
          </a:xfrm>
          <a:prstGeom prst="roundRect">
            <a:avLst/>
          </a:prstGeom>
          <a:solidFill>
            <a:srgbClr val="FFFFFF"/>
          </a:solidFill>
          <a:ln w="38100">
            <a:solidFill>
              <a:srgbClr val="B03A2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300" b="1">
                <a:solidFill>
                  <a:srgbClr val="B03A2E"/>
                </a:solidFill>
              </a:defRPr>
            </a:pPr>
            <a:r>
              <a:rPr dirty="0"/>
              <a:t>FRONTIÈRE DE TRANSACTION : AGRÉGAT COMMANDE</a:t>
            </a:r>
          </a:p>
          <a:p>
            <a:pPr>
              <a:spcAft>
                <a:spcPts val="600"/>
              </a:spcAft>
              <a:defRPr sz="1200">
                <a:solidFill>
                  <a:srgbClr val="282C34"/>
                </a:solidFill>
              </a:defRPr>
            </a:pPr>
            <a:r>
              <a:rPr lang="fr-FR" dirty="0" smtClean="0"/>
              <a:t>*</a:t>
            </a:r>
            <a:r>
              <a:rPr dirty="0" smtClean="0"/>
              <a:t> </a:t>
            </a:r>
            <a:r>
              <a:rPr dirty="0"/>
              <a:t>[Racine </a:t>
            </a:r>
            <a:r>
              <a:rPr dirty="0" err="1"/>
              <a:t>d'Agrégat</a:t>
            </a:r>
            <a:r>
              <a:rPr dirty="0"/>
              <a:t>] </a:t>
            </a:r>
            <a:r>
              <a:rPr dirty="0" err="1"/>
              <a:t>Commande</a:t>
            </a:r>
            <a:r>
              <a:rPr dirty="0"/>
              <a:t> (</a:t>
            </a:r>
            <a:r>
              <a:rPr dirty="0" err="1"/>
              <a:t>Entité</a:t>
            </a:r>
            <a:r>
              <a:rPr dirty="0"/>
              <a:t> </a:t>
            </a:r>
            <a:r>
              <a:rPr dirty="0" err="1"/>
              <a:t>principale</a:t>
            </a:r>
            <a:r>
              <a:rPr dirty="0"/>
              <a:t>)</a:t>
            </a:r>
          </a:p>
          <a:p>
            <a:pPr>
              <a:spcAft>
                <a:spcPts val="600"/>
              </a:spcAft>
              <a:defRPr sz="1200">
                <a:solidFill>
                  <a:srgbClr val="282C34"/>
                </a:solidFill>
              </a:defRPr>
            </a:pPr>
            <a:r>
              <a:rPr dirty="0"/>
              <a:t>  ↳ </a:t>
            </a:r>
            <a:r>
              <a:rPr dirty="0" err="1"/>
              <a:t>Gère</a:t>
            </a:r>
            <a:r>
              <a:rPr dirty="0"/>
              <a:t> </a:t>
            </a:r>
            <a:r>
              <a:rPr dirty="0" err="1"/>
              <a:t>l'ID</a:t>
            </a:r>
            <a:r>
              <a:rPr dirty="0"/>
              <a:t>, la Date et le </a:t>
            </a:r>
            <a:r>
              <a:rPr dirty="0" err="1"/>
              <a:t>Statut</a:t>
            </a:r>
            <a:r>
              <a:rPr dirty="0"/>
              <a:t> global.</a:t>
            </a:r>
          </a:p>
          <a:p>
            <a:pPr>
              <a:spcAft>
                <a:spcPts val="600"/>
              </a:spcAft>
              <a:defRPr sz="1200">
                <a:solidFill>
                  <a:srgbClr val="282C34"/>
                </a:solidFill>
              </a:defRPr>
            </a:pPr>
            <a:r>
              <a:rPr lang="fr-FR" dirty="0" smtClean="0"/>
              <a:t>*</a:t>
            </a:r>
            <a:r>
              <a:rPr dirty="0" smtClean="0"/>
              <a:t> </a:t>
            </a:r>
            <a:r>
              <a:rPr dirty="0"/>
              <a:t>[</a:t>
            </a:r>
            <a:r>
              <a:rPr dirty="0" err="1"/>
              <a:t>Entité</a:t>
            </a:r>
            <a:r>
              <a:rPr dirty="0"/>
              <a:t> Enfant] </a:t>
            </a:r>
            <a:r>
              <a:rPr dirty="0" err="1"/>
              <a:t>Ligne</a:t>
            </a:r>
            <a:r>
              <a:rPr dirty="0"/>
              <a:t> de </a:t>
            </a:r>
            <a:r>
              <a:rPr dirty="0" err="1"/>
              <a:t>Commande</a:t>
            </a:r>
            <a:endParaRPr dirty="0"/>
          </a:p>
          <a:p>
            <a:pPr>
              <a:spcAft>
                <a:spcPts val="600"/>
              </a:spcAft>
              <a:defRPr sz="1200">
                <a:solidFill>
                  <a:srgbClr val="282C34"/>
                </a:solidFill>
              </a:defRPr>
            </a:pPr>
            <a:r>
              <a:rPr dirty="0"/>
              <a:t>  ↳ </a:t>
            </a:r>
            <a:r>
              <a:rPr dirty="0" err="1"/>
              <a:t>Identité</a:t>
            </a:r>
            <a:r>
              <a:rPr dirty="0"/>
              <a:t> locale </a:t>
            </a:r>
            <a:r>
              <a:rPr dirty="0" err="1"/>
              <a:t>uniquement</a:t>
            </a:r>
            <a:r>
              <a:rPr dirty="0"/>
              <a:t>, inaccessible de </a:t>
            </a:r>
            <a:r>
              <a:rPr dirty="0" err="1"/>
              <a:t>l'extérieur</a:t>
            </a:r>
            <a:r>
              <a:rPr dirty="0"/>
              <a:t>.</a:t>
            </a:r>
          </a:p>
          <a:p>
            <a:pPr>
              <a:spcAft>
                <a:spcPts val="600"/>
              </a:spcAft>
              <a:defRPr sz="1200">
                <a:solidFill>
                  <a:srgbClr val="282C34"/>
                </a:solidFill>
              </a:defRPr>
            </a:pPr>
            <a:r>
              <a:rPr lang="fr-FR" dirty="0" smtClean="0"/>
              <a:t>*</a:t>
            </a:r>
            <a:r>
              <a:rPr dirty="0" smtClean="0"/>
              <a:t> </a:t>
            </a:r>
            <a:r>
              <a:rPr dirty="0"/>
              <a:t>[Value Object] </a:t>
            </a:r>
            <a:r>
              <a:rPr dirty="0" err="1"/>
              <a:t>Adresse</a:t>
            </a:r>
            <a:r>
              <a:rPr dirty="0"/>
              <a:t> de Livraison</a:t>
            </a:r>
          </a:p>
          <a:p>
            <a:pPr>
              <a:spcAft>
                <a:spcPts val="600"/>
              </a:spcAft>
              <a:defRPr sz="1200">
                <a:solidFill>
                  <a:srgbClr val="282C34"/>
                </a:solidFill>
              </a:defRPr>
            </a:pPr>
            <a:r>
              <a:rPr dirty="0"/>
              <a:t>  ↳ </a:t>
            </a:r>
            <a:r>
              <a:rPr dirty="0" err="1"/>
              <a:t>Immuable</a:t>
            </a:r>
            <a:r>
              <a:rPr dirty="0"/>
              <a:t>, </a:t>
            </a:r>
            <a:r>
              <a:rPr dirty="0" err="1"/>
              <a:t>encapsule</a:t>
            </a:r>
            <a:r>
              <a:rPr dirty="0"/>
              <a:t> la validation du code postal.</a:t>
            </a:r>
          </a:p>
        </p:txBody>
      </p:sp>
      <p:sp>
        <p:nvSpPr>
          <p:cNvPr id="5" name="TextBox 4"/>
          <p:cNvSpPr txBox="1"/>
          <p:nvPr/>
        </p:nvSpPr>
        <p:spPr>
          <a:xfrm>
            <a:off x="6309360" y="2011680"/>
            <a:ext cx="5303520" cy="4114800"/>
          </a:xfrm>
          <a:prstGeom prst="rect">
            <a:avLst/>
          </a:prstGeom>
          <a:noFill/>
        </p:spPr>
        <p:txBody>
          <a:bodyPr wrap="square">
            <a:spAutoFit/>
          </a:bodyPr>
          <a:lstStyle/>
          <a:p>
            <a:pPr>
              <a:spcAft>
                <a:spcPts val="1200"/>
              </a:spcAft>
              <a:defRPr sz="1600" b="1">
                <a:solidFill>
                  <a:srgbClr val="282C34"/>
                </a:solidFill>
              </a:defRPr>
            </a:pPr>
            <a:r>
              <a:t>Les Règles Sacrées de l'Agrégat</a:t>
            </a:r>
          </a:p>
          <a:p>
            <a:pPr>
              <a:spcAft>
                <a:spcPts val="800"/>
              </a:spcAft>
              <a:defRPr sz="1200">
                <a:solidFill>
                  <a:srgbClr val="282C34"/>
                </a:solidFill>
              </a:defRPr>
            </a:pPr>
            <a:r>
              <a:t>1. Point d'Entrée Unique : Le monde extérieur (les autres microservices ou couches) ne peut dialoguer qu'avec la Racine d'Agrégat (Aggregate Root). Aucun accès direct aux entités internes.</a:t>
            </a:r>
          </a:p>
          <a:p>
            <a:pPr>
              <a:spcAft>
                <a:spcPts val="800"/>
              </a:spcAft>
              <a:defRPr sz="1200">
                <a:solidFill>
                  <a:srgbClr val="282C34"/>
                </a:solidFill>
              </a:defRPr>
            </a:pPr>
            <a:r>
              <a:t>2. Cohérence Forte Temporelle : Tout changement d'état au sein de la frontière doit respecter l'ensemble des règles de gestion et se faire dans une seule et unique transaction de base de données.</a:t>
            </a:r>
          </a:p>
          <a:p>
            <a:pPr>
              <a:spcAft>
                <a:spcPts val="800"/>
              </a:spcAft>
              <a:defRPr sz="1200">
                <a:solidFill>
                  <a:srgbClr val="282C34"/>
                </a:solidFill>
              </a:defRPr>
            </a:pPr>
            <a:r>
              <a:t>3. Référence par ID uniquement : Un agrégat externe ne peut faire référence à celui-ci qu'en stockant son ID global, et jamais une référence d'objet directe.</a:t>
            </a: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Services de Domaine &amp; Fabriques (Factories)</a:t>
            </a:r>
          </a:p>
        </p:txBody>
      </p:sp>
      <p:sp>
        <p:nvSpPr>
          <p:cNvPr id="4" name="Rectangle 3"/>
          <p:cNvSpPr/>
          <p:nvPr/>
        </p:nvSpPr>
        <p:spPr>
          <a:xfrm>
            <a:off x="548640" y="2011680"/>
            <a:ext cx="5303520" cy="41148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B03A2E"/>
                </a:solidFill>
              </a:defRPr>
            </a:pPr>
            <a:r>
              <a:t>Les Services de Domaine</a:t>
            </a:r>
          </a:p>
          <a:p>
            <a:pPr>
              <a:spcAft>
                <a:spcPts val="1000"/>
              </a:spcAft>
              <a:defRPr sz="1200">
                <a:solidFill>
                  <a:srgbClr val="282C34"/>
                </a:solidFill>
              </a:defRPr>
            </a:pPr>
            <a:r>
              <a:t>▪ Quand l'utiliser : Lorsqu'un traitement ou un algorithme métier important n'appartient naturellement à aucune entité ou objet-valeur spécifique.</a:t>
            </a:r>
          </a:p>
          <a:p>
            <a:pPr>
              <a:spcAft>
                <a:spcPts val="1000"/>
              </a:spcAft>
              <a:defRPr sz="1200">
                <a:solidFill>
                  <a:srgbClr val="282C34"/>
                </a:solidFill>
              </a:defRPr>
            </a:pPr>
            <a:r>
              <a:t>▪ Règle de conception : Sans état (Stateless). Reçoit des objets en paramètres, exécute le calcul et renvoie un résultat.</a:t>
            </a:r>
          </a:p>
          <a:p>
            <a:pPr>
              <a:spcAft>
                <a:spcPts val="1000"/>
              </a:spcAft>
              <a:defRPr sz="1200">
                <a:solidFill>
                  <a:srgbClr val="282C34"/>
                </a:solidFill>
              </a:defRPr>
            </a:pPr>
            <a:r>
              <a:t>▪ Exemple typique : Un service `CalculateurVirementInterbancaire` qui orchestre le débit d'un agrégat CompteA et le crédit d'un agrégat CompteB.</a:t>
            </a:r>
          </a:p>
        </p:txBody>
      </p:sp>
      <p:sp>
        <p:nvSpPr>
          <p:cNvPr id="5" name="Rectangle 4"/>
          <p:cNvSpPr/>
          <p:nvPr/>
        </p:nvSpPr>
        <p:spPr>
          <a:xfrm>
            <a:off x="6309360" y="2011680"/>
            <a:ext cx="5303520" cy="4114800"/>
          </a:xfrm>
          <a:prstGeom prst="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400"/>
              </a:spcAft>
              <a:defRPr sz="1600" b="1">
                <a:solidFill>
                  <a:srgbClr val="B03A2E"/>
                </a:solidFill>
              </a:defRPr>
            </a:pPr>
            <a:r>
              <a:t>Les Fabriques (Factories)</a:t>
            </a:r>
          </a:p>
          <a:p>
            <a:pPr>
              <a:spcAft>
                <a:spcPts val="1000"/>
              </a:spcAft>
              <a:defRPr sz="1200">
                <a:solidFill>
                  <a:srgbClr val="282C34"/>
                </a:solidFill>
              </a:defRPr>
            </a:pPr>
            <a:r>
              <a:t>▪ Rôle principal : Encapsuler la complexité de la création et de l'instanciation initiale d'un agrégat lourd.</a:t>
            </a:r>
          </a:p>
          <a:p>
            <a:pPr>
              <a:spcAft>
                <a:spcPts val="1000"/>
              </a:spcAft>
              <a:defRPr sz="1200">
                <a:solidFill>
                  <a:srgbClr val="282C34"/>
                </a:solidFill>
              </a:defRPr>
            </a:pPr>
            <a:r>
              <a:t>▪ Bénéfice immédiat : Évite de polluer l'objet métier avec des dizaines de lignes de code d'initialisation technique ou de validation structurelle complexe.</a:t>
            </a:r>
          </a:p>
          <a:p>
            <a:pPr>
              <a:spcAft>
                <a:spcPts val="1000"/>
              </a:spcAft>
              <a:defRPr sz="1200">
                <a:solidFill>
                  <a:srgbClr val="282C34"/>
                </a:solidFill>
              </a:defRPr>
            </a:pPr>
            <a:r>
              <a:t>▪ Garantie : S'assure que l'agrégat créé respecte dès sa naissance l'intégralité de ses invariants métiers et invariants de structure.</a:t>
            </a:r>
          </a:p>
        </p:txBody>
      </p:sp>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9144000" cy="365760"/>
          </a:xfrm>
          <a:prstGeom prst="rect">
            <a:avLst/>
          </a:prstGeom>
          <a:noFill/>
        </p:spPr>
        <p:txBody>
          <a:bodyPr wrap="square">
            <a:spAutoFit/>
          </a:bodyPr>
          <a:lstStyle/>
          <a:p>
            <a:pPr>
              <a:defRPr sz="1000" b="1">
                <a:solidFill>
                  <a:srgbClr val="B03A2E"/>
                </a:solidFill>
                <a:latin typeface="Arial"/>
              </a:defRPr>
            </a:pPr>
            <a:r>
              <a:t>CHAPITRE 02 : DÉCOMPOSITION &amp; DDD</a:t>
            </a:r>
          </a:p>
        </p:txBody>
      </p:sp>
      <p:sp>
        <p:nvSpPr>
          <p:cNvPr id="3" name="TextBox 2"/>
          <p:cNvSpPr txBox="1"/>
          <p:nvPr/>
        </p:nvSpPr>
        <p:spPr>
          <a:xfrm>
            <a:off x="548640" y="640080"/>
            <a:ext cx="10972800" cy="731520"/>
          </a:xfrm>
          <a:prstGeom prst="rect">
            <a:avLst/>
          </a:prstGeom>
          <a:noFill/>
        </p:spPr>
        <p:txBody>
          <a:bodyPr wrap="square">
            <a:spAutoFit/>
          </a:bodyPr>
          <a:lstStyle/>
          <a:p>
            <a:pPr>
              <a:defRPr sz="2400" b="1">
                <a:solidFill>
                  <a:srgbClr val="282C34"/>
                </a:solidFill>
                <a:latin typeface="Arial"/>
              </a:defRPr>
            </a:pPr>
            <a:r>
              <a:t>Synthèse d'Arbitrage : Quelle taille pour un microservice ?</a:t>
            </a:r>
          </a:p>
        </p:txBody>
      </p:sp>
      <p:sp>
        <p:nvSpPr>
          <p:cNvPr id="4" name="TextBox 3"/>
          <p:cNvSpPr txBox="1"/>
          <p:nvPr/>
        </p:nvSpPr>
        <p:spPr>
          <a:xfrm>
            <a:off x="548640" y="1645920"/>
            <a:ext cx="10972800" cy="4754880"/>
          </a:xfrm>
          <a:prstGeom prst="rect">
            <a:avLst/>
          </a:prstGeom>
          <a:noFill/>
        </p:spPr>
        <p:txBody>
          <a:bodyPr wrap="square">
            <a:spAutoFit/>
          </a:bodyPr>
          <a:lstStyle/>
          <a:p>
            <a:pPr>
              <a:spcAft>
                <a:spcPts val="1400"/>
              </a:spcAft>
              <a:defRPr sz="1800" b="1">
                <a:solidFill>
                  <a:srgbClr val="B03A2E"/>
                </a:solidFill>
              </a:defRPr>
            </a:pPr>
            <a:r>
              <a:t>Les Repères Pratiques pour Positionner le Curseur</a:t>
            </a:r>
          </a:p>
          <a:p>
            <a:pPr>
              <a:spcAft>
                <a:spcPts val="1200"/>
              </a:spcAft>
            </a:pPr>
            <a:r>
              <a:rPr sz="1400" b="1">
                <a:solidFill>
                  <a:srgbClr val="B03A2E"/>
                </a:solidFill>
              </a:rPr>
              <a:t>La Règle d'Or Maximale :</a:t>
            </a:r>
            <a:r>
              <a:rPr sz="1400">
                <a:solidFill>
                  <a:srgbClr val="282C34"/>
                </a:solidFill>
              </a:rPr>
              <a:t> Un microservice englobe au maximum un seul Contexte Borné (Bounded Context). S'il commence à héberger des notions issues de deux langages ubiquitaires différents, il doit être scindé.</a:t>
            </a:r>
          </a:p>
          <a:p>
            <a:pPr>
              <a:spcAft>
                <a:spcPts val="1200"/>
              </a:spcAft>
            </a:pPr>
            <a:r>
              <a:rPr sz="1400" b="1">
                <a:solidFill>
                  <a:srgbClr val="B03A2E"/>
                </a:solidFill>
              </a:rPr>
              <a:t>La Règle d'Or Minimale :</a:t>
            </a:r>
            <a:r>
              <a:rPr sz="1400">
                <a:solidFill>
                  <a:srgbClr val="282C34"/>
                </a:solidFill>
              </a:rPr>
              <a:t> Un microservice englobe au minimum un Agrégat complet. Descendre en dessous et isoler une simple entité enfant réseau crée un Nanoservice toxique qui détruira les performances.</a:t>
            </a:r>
          </a:p>
          <a:p>
            <a:pPr>
              <a:spcAft>
                <a:spcPts val="1200"/>
              </a:spcAft>
            </a:pPr>
            <a:r>
              <a:rPr sz="1400" b="1">
                <a:solidFill>
                  <a:srgbClr val="B03A2E"/>
                </a:solidFill>
              </a:rPr>
              <a:t>L'Indicateur Transactionnel :</a:t>
            </a:r>
            <a:r>
              <a:rPr sz="1400">
                <a:solidFill>
                  <a:srgbClr val="282C34"/>
                </a:solidFill>
              </a:rPr>
              <a:t> Si deux pans de fonctionnalités exigent impérativement une cohérence forte immédiate (transaction SQL unique), ils doivent vivre obligatoirement au sein du même microservice.</a:t>
            </a:r>
          </a:p>
          <a:p>
            <a:pPr>
              <a:spcAft>
                <a:spcPts val="1200"/>
              </a:spcAft>
            </a:pPr>
            <a:r>
              <a:rPr sz="1400" b="1">
                <a:solidFill>
                  <a:srgbClr val="B03A2E"/>
                </a:solidFill>
              </a:rPr>
              <a:t>L'Indicateur Organisationnel :</a:t>
            </a:r>
            <a:r>
              <a:rPr sz="1400">
                <a:solidFill>
                  <a:srgbClr val="282C34"/>
                </a:solidFill>
              </a:rPr>
              <a:t> Un microservice doit pouvoir être intégralement maîtrisé et développé par une seule équipe autonome à taille humaine (Two-Pizza Team d'Amazon, environ 7 à 9 personnes max).</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8509" y="323608"/>
            <a:ext cx="1856014" cy="7527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1603</Words>
  <Application>Microsoft Office PowerPoint</Application>
  <PresentationFormat>Grand écran</PresentationFormat>
  <Paragraphs>119</Paragraphs>
  <Slides>13</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13</vt:i4>
      </vt:variant>
    </vt:vector>
  </HeadingPairs>
  <TitlesOfParts>
    <vt:vector size="1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Compte Microsoft</cp:lastModifiedBy>
  <cp:revision>7</cp:revision>
  <dcterms:created xsi:type="dcterms:W3CDTF">2013-01-27T09:14:16Z</dcterms:created>
  <dcterms:modified xsi:type="dcterms:W3CDTF">2026-10-29T13:56:01Z</dcterms:modified>
  <cp:category/>
</cp:coreProperties>
</file>